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9" r:id="rId4"/>
    <p:sldId id="260" r:id="rId5"/>
    <p:sldId id="275" r:id="rId6"/>
    <p:sldId id="284" r:id="rId7"/>
    <p:sldId id="262" r:id="rId8"/>
    <p:sldId id="263" r:id="rId9"/>
    <p:sldId id="264" r:id="rId10"/>
    <p:sldId id="265" r:id="rId11"/>
    <p:sldId id="278" r:id="rId12"/>
    <p:sldId id="266" r:id="rId13"/>
    <p:sldId id="279" r:id="rId14"/>
    <p:sldId id="267" r:id="rId15"/>
    <p:sldId id="280" r:id="rId16"/>
    <p:sldId id="268" r:id="rId17"/>
    <p:sldId id="281" r:id="rId18"/>
    <p:sldId id="269" r:id="rId19"/>
    <p:sldId id="282" r:id="rId20"/>
    <p:sldId id="270" r:id="rId21"/>
    <p:sldId id="283" r:id="rId22"/>
    <p:sldId id="276" r:id="rId23"/>
    <p:sldId id="277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65" autoAdjust="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9892E2-270B-E956-AD41-D30DC3814F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41B0F7-6C9C-DDB6-46E0-3A3EA5BFFB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EB48A7-96B2-7DDD-489A-7F5D2CB794E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044E2A-3004-4B63-9B59-36B7D031C2D0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37E1CC-6B03-4BB3-00AB-894AC3DE817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A550C8-CAA5-CF26-9DE9-8CE2D0DBEE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2174B7-1452-43DA-A7A1-FDF66027EB5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8804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05FC7-5F2D-166D-544E-F0121D50C4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B131C7-E365-975A-BDFA-FC389987562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F2CEFC-001E-9F2D-7084-DADD2605CD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AFF6EB-4E7C-41EE-80D3-70BB85A10F6B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18976B-195E-8B91-061E-E7CDDB9AE0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C15A5-5CEC-B216-A27E-AC368093F0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D07FDF-F97E-4BAF-BD51-F6870D5B791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2124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C3FB3-299C-E509-5910-E569496C93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FCCEFE-6D56-9852-6D67-5EDE7BFAA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ED6A86-F518-5E0A-86C4-D714B17FBA3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4B58AEE-E297-4399-B14F-3A26C0839BCD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14A6FE-D4B5-6A97-07CB-7815F27052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E686B0-0408-548A-840C-47CFC8F70BA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447A66-52B6-402F-8F99-384B8AFD115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70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224840-8AAC-5FE6-9207-DA5B7E942FD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0ADE98-7A82-BC6B-6D7E-2ACDEF092F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5BEE05-E065-C327-B0A2-B5B8D35C70C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8CDA9F-93CE-B7B7-457F-A806D76F415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DB16B7-53D9-43F7-99CA-FEA35AB85A2F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C32F23-6E50-BB93-EE30-F70EDFAD1A0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353BEB-C8D0-598D-3907-58243655E2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71BB7B-CBAB-400E-A3C8-F01478BF054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34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CE8E79-A294-9152-1AD8-B1183EDF0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02B4CB-1BA7-CBA6-9D97-C48D57126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72507B-91F9-4F16-0B68-986DCBDE17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12FB84-495D-7597-BC7E-025F9B513C8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722253-037B-BAF0-F055-D4477BE802BD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A2F6F2F-3D67-85DE-075E-B222F16332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A5F014-4D1C-4BA2-989B-C81617CFDC3D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1767363-8945-A3ED-BC45-3B10855CA80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FE1D8F-7BC5-A69E-341B-538FE77101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5CA402-47D0-40C3-AD9F-D2CC15DB718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47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A74DC-9033-C4CC-DD56-6809E49C24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0FBFDFB-82F2-83FA-2D43-5E5246B7AEE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7C3EA7-9354-4226-989F-CC02372194AD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9AED93-9306-24EB-1110-4EA53BF10A9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C233B7-3AE2-21E5-263A-F18CDDC3A71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BFAED2-C9E6-442E-8A31-EA9DD48B620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1662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40FA5B9-9345-BF30-0B5C-3571875279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327538-18A5-49C5-8F18-1E232C09AFF6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4A5C23-6291-46EA-1396-6619D86BD8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80506D-3E31-3307-4924-A02E71CC0C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BC8CB4-D72A-42D1-BC2C-97F622E33BA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13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CA60F-CE8D-9E99-3493-BBC79AD0D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A58606-6591-9D35-BD29-AA756311BE9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C5EEA7-7BAA-2432-2664-930A3ACA14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4AEA2D-BB73-4947-3644-B487D7BA0A7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2D9B5F-543F-4935-B892-259A21E842AB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7FC37B-54C0-1D95-A744-D353D8185E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55C0B2-98D1-E86B-EE0E-ABA4AE9603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D26681-1308-4582-9EF6-8C089FC6EAF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17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6ABDB-A2AE-7D10-1FCE-835CFF6F6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7A1C054-B782-8BF0-4ED9-4D90FEDDE309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079725-E7C9-23D9-324C-AAE4C7F170F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612514-5A4E-B185-2995-164E146B79F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2E5E02-6116-4166-B66C-7D576F6DEF30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249F2C-06D6-0365-5B1F-C940272401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75ED35-A3E8-ECC3-C9DF-BC56FC304EE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035339-B134-41CA-9D66-750070AA144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81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E8935-D950-9E0E-9CD2-8D4AAE228EA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BBAC65-55BB-2AB3-5B47-221835CC222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80A48-2010-C378-7D62-71E4EC4D07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B0BA77-77FB-4EBB-96DA-00409341C2F0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65E1A2-EF3C-4E5F-D3BB-EB22716E471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58B0AA-ECE5-843B-EA2D-154F433F92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04FA94-E491-49E0-AAF7-5A8E1EC9910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35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6ADBDB5-931F-319F-B960-A0905F16DA2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B2A236-87DA-6079-E013-4C78766A28A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B34064-7339-FFB0-B11D-6D87681493B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71E14D-9269-49EE-B2A9-2C698FD92FD8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A986E9-2AFA-55E4-A889-8D9BD151781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9B6260-B427-EECC-641E-002CE1F6BB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EA4B94-E62E-4D06-A01A-5B5212517FF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179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6176D3-CFAA-2503-7462-AD61D3A378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F02B06-83DC-28A1-7F66-576F46DBF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0D7F60-087D-4704-6F1D-4284820FA6E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53673BA-4190-49C9-9BD1-636500A5A230}" type="datetime1">
              <a:rPr lang="fr-FR"/>
              <a:pPr lvl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7B21AA-6CB9-F4E7-7ECC-FC7322E7E0C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A22742-1D55-E09C-C01A-D593890FC41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CF7C97C1-8C4E-40F6-AFE6-B1CF8CFAA784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6">
            <a:extLst>
              <a:ext uri="{FF2B5EF4-FFF2-40B4-BE49-F238E27FC236}">
                <a16:creationId xmlns:a16="http://schemas.microsoft.com/office/drawing/2014/main" id="{64920A07-0E61-6D25-8C3A-2AB5BB553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48" y="552375"/>
            <a:ext cx="9952896" cy="1734534"/>
          </a:xfrm>
          <a:prstGeom prst="rect">
            <a:avLst/>
          </a:prstGeom>
          <a:solidFill>
            <a:srgbClr val="FFFFFF"/>
          </a:solidFill>
          <a:ln w="12701" cap="flat">
            <a:noFill/>
            <a:prstDash val="solid"/>
            <a:miter/>
          </a:ln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BC7BA6A7-F5A0-938B-1FDE-71E922E34C25}"/>
              </a:ext>
            </a:extLst>
          </p:cNvPr>
          <p:cNvSpPr/>
          <p:nvPr/>
        </p:nvSpPr>
        <p:spPr>
          <a:xfrm>
            <a:off x="1629505" y="2753139"/>
            <a:ext cx="8932983" cy="1401418"/>
          </a:xfrm>
          <a:prstGeom prst="rect">
            <a:avLst/>
          </a:prstGeom>
          <a:solidFill>
            <a:srgbClr val="FFFFFF"/>
          </a:solidFill>
          <a:ln w="12701" cap="flat">
            <a:noFill/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1" i="0" u="none" strike="noStrike" kern="1200" cap="none" spc="0" baseline="0" dirty="0">
                <a:solidFill>
                  <a:srgbClr val="FF0000"/>
                </a:solidFill>
                <a:uFillTx/>
                <a:latin typeface="Bahnschrift SemiBold" panose="020B0502040204020203" pitchFamily="34" charset="0"/>
              </a:rPr>
              <a:t>Projet DATAImmo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A</a:t>
            </a:r>
            <a:r>
              <a:rPr lang="fr-FR" sz="4400" b="1" i="0" u="none" strike="noStrike" kern="1200" cap="none" spc="0" baseline="0" dirty="0">
                <a:solidFill>
                  <a:srgbClr val="FF0000"/>
                </a:solidFill>
                <a:uFillTx/>
                <a:latin typeface="Bahnschrift SemiBold" panose="020B0502040204020203" pitchFamily="34" charset="0"/>
              </a:rPr>
              <a:t>nalyse du marché immobilier</a:t>
            </a:r>
          </a:p>
        </p:txBody>
      </p:sp>
      <p:pic>
        <p:nvPicPr>
          <p:cNvPr id="5" name="Graphique 4" descr="Base de données avec un remplissage uni">
            <a:extLst>
              <a:ext uri="{FF2B5EF4-FFF2-40B4-BE49-F238E27FC236}">
                <a16:creationId xmlns:a16="http://schemas.microsoft.com/office/drawing/2014/main" id="{803F4A66-5BC1-8F4B-7012-DB4C2B392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797" y="4523958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825627"/>
            <a:ext cx="10515600" cy="4475782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</a:pPr>
            <a:r>
              <a:rPr dirty="0"/>
              <a:t>📌 </a:t>
            </a:r>
            <a:r>
              <a:rPr sz="2600" dirty="0">
                <a:latin typeface="Bahnschrift Light SemiCondensed" panose="020B0502040204020203" pitchFamily="34" charset="0"/>
              </a:rPr>
              <a:t>Pourquoi DATAImmo ?</a:t>
            </a: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📊 </a:t>
            </a:r>
            <a:r>
              <a:rPr lang="fr-FR" sz="2600" dirty="0">
                <a:latin typeface="Bahnschrift Light SemiCondensed" pitchFamily="34"/>
              </a:rPr>
              <a:t>Présentation des données sources et nettoyage des données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🔐 </a:t>
            </a:r>
            <a:r>
              <a:rPr lang="fr-FR" sz="2600" dirty="0">
                <a:latin typeface="Bahnschrift Light SemiCondensed" pitchFamily="34"/>
              </a:rPr>
              <a:t>Conformité au RGPD et stratégie de sauvegarde 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       </a:t>
            </a:r>
            <a:r>
              <a:rPr lang="fr-FR" sz="2600" dirty="0">
                <a:latin typeface="Bahnschrift Light SemiCondensed" pitchFamily="34"/>
              </a:rPr>
              <a:t>Dictionnaire de données et structure des tables </a:t>
            </a: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/>
              <a:t>🧱 </a:t>
            </a:r>
            <a:r>
              <a:rPr lang="fr-FR" sz="2600" dirty="0">
                <a:latin typeface="Bahnschrift Light SemiCondensed" pitchFamily="34"/>
              </a:rPr>
              <a:t>L’architecture de la base de données (BDD)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🗃️ </a:t>
            </a:r>
            <a:r>
              <a:rPr lang="fr-FR" sz="2600" dirty="0">
                <a:latin typeface="Bahnschrift Light SemiCondensed" pitchFamily="34"/>
              </a:rPr>
              <a:t>La création et alimentation de la BDD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📈 </a:t>
            </a:r>
            <a:r>
              <a:rPr lang="fr-FR" sz="2600" dirty="0">
                <a:latin typeface="Bahnschrift Light SemiCondensed" pitchFamily="34"/>
              </a:rPr>
              <a:t>Exploitation de DATAImmo à travers des requêtes ciblées</a:t>
            </a:r>
          </a:p>
          <a:p>
            <a:pPr>
              <a:buClr>
                <a:srgbClr val="FF0000"/>
              </a:buClr>
            </a:pPr>
            <a:r>
              <a:rPr lang="fr-FR" sz="2600" dirty="0">
                <a:latin typeface="Bahnschrift Light SemiCondensed" pitchFamily="34"/>
              </a:rPr>
              <a:t>       </a:t>
            </a:r>
            <a:r>
              <a:rPr lang="fr-FR" sz="2600" dirty="0">
                <a:latin typeface="Bahnschrift Light SemiCondensed" panose="020B0502040204020203" pitchFamily="34" charset="0"/>
              </a:rPr>
              <a:t>Conclusion</a:t>
            </a:r>
          </a:p>
          <a:p>
            <a:pPr>
              <a:buClr>
                <a:srgbClr val="FF0000"/>
              </a:buClr>
            </a:pPr>
            <a:endParaRPr lang="fr-FR" sz="2600" dirty="0">
              <a:latin typeface="Bahnschrift Light SemiCondensed" pitchFamily="34"/>
            </a:endParaRPr>
          </a:p>
          <a:p>
            <a:endParaRPr dirty="0">
              <a:latin typeface="Bahnschrift Light SemiCondensed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F090921-402E-1838-4BA3-D4FFE1D32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872116" y="6172356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8D909A9-1FC9-1525-196D-9C84F369C4EB}"/>
              </a:ext>
            </a:extLst>
          </p:cNvPr>
          <p:cNvSpPr txBox="1"/>
          <p:nvPr/>
        </p:nvSpPr>
        <p:spPr>
          <a:xfrm>
            <a:off x="1030440" y="3210183"/>
            <a:ext cx="658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📚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6C3117A-E6BA-4BDA-13CF-F6DAB16E8AB9}"/>
              </a:ext>
            </a:extLst>
          </p:cNvPr>
          <p:cNvSpPr txBox="1"/>
          <p:nvPr/>
        </p:nvSpPr>
        <p:spPr>
          <a:xfrm>
            <a:off x="1030440" y="5251851"/>
            <a:ext cx="449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</a:pPr>
            <a:r>
              <a:rPr lang="fr-FR" sz="2800" dirty="0"/>
              <a:t>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38DED-4E1D-AA4E-3170-A814CB6D5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698561"/>
          </a:xfrm>
        </p:spPr>
        <p:txBody>
          <a:bodyPr anchorCtr="1"/>
          <a:lstStyle/>
          <a:p>
            <a:pPr lvl="0" algn="ctr"/>
            <a:r>
              <a:rPr lang="fr-FR" dirty="0"/>
              <a:t>📌 </a:t>
            </a:r>
            <a:r>
              <a:rPr lang="fr-FR" dirty="0">
                <a:solidFill>
                  <a:srgbClr val="FF0000"/>
                </a:solidFill>
                <a:latin typeface="Bahnschrift Light SemiCondensed" pitchFamily="34"/>
              </a:rPr>
              <a:t>Le contexte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9E77D6-7721-7DA9-0073-BB3AA6E8518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41519" y="1226975"/>
            <a:ext cx="10515600" cy="5019967"/>
          </a:xfrm>
        </p:spPr>
        <p:txBody>
          <a:bodyPr anchor="ctr">
            <a:normAutofit/>
          </a:bodyPr>
          <a:lstStyle/>
          <a:p>
            <a:pPr marL="0" lvl="0" indent="0" algn="ctr">
              <a:buNone/>
            </a:pPr>
            <a:endParaRPr lang="fr-FR" sz="2400" dirty="0"/>
          </a:p>
          <a:p>
            <a:pPr marL="0" lvl="0" indent="0">
              <a:buNone/>
            </a:pPr>
            <a:r>
              <a:rPr lang="fr-FR" sz="2400" dirty="0">
                <a:latin typeface="Bahnschrift Light SemiCondensed" panose="020B0502040204020203" pitchFamily="34" charset="0"/>
              </a:rPr>
              <a:t>🔍 </a:t>
            </a:r>
            <a:r>
              <a:rPr lang="fr-FR" sz="2000" dirty="0">
                <a:latin typeface="Bahnschrift Light SemiCondensed" panose="020B0502040204020203" pitchFamily="34" charset="0"/>
              </a:rPr>
              <a:t>L’analyse de données joue un rôle de + en + central dans la stratégie des entreprises</a:t>
            </a:r>
            <a:r>
              <a:rPr lang="fr-FR" sz="2400" dirty="0">
                <a:latin typeface="Bahnschrift Light SemiCondensed" panose="020B0502040204020203" pitchFamily="34" charset="0"/>
              </a:rPr>
              <a:t>.</a:t>
            </a:r>
          </a:p>
          <a:p>
            <a:pPr marL="0" lvl="0" indent="0" algn="ctr">
              <a:buNone/>
            </a:pPr>
            <a:endParaRPr lang="fr-FR" sz="1200" dirty="0"/>
          </a:p>
          <a:p>
            <a:pPr marL="0" lvl="0" indent="0" algn="ctr">
              <a:buNone/>
            </a:pPr>
            <a:endParaRPr lang="fr-FR" sz="1200" dirty="0"/>
          </a:p>
          <a:p>
            <a:pPr marL="0" lvl="0" indent="0" algn="ctr">
              <a:buNone/>
            </a:pPr>
            <a:r>
              <a:rPr lang="fr-FR" dirty="0"/>
              <a:t>🎯 </a:t>
            </a:r>
            <a:r>
              <a:rPr lang="fr-FR" u="sng" dirty="0">
                <a:solidFill>
                  <a:srgbClr val="FF0000"/>
                </a:solidFill>
                <a:latin typeface="Bahnschrift SemiLight SemiConde" panose="020B0502040204020203" pitchFamily="34" charset="0"/>
              </a:rPr>
              <a:t>OBJECTIFS:</a:t>
            </a:r>
          </a:p>
          <a:p>
            <a:pPr marL="0" lvl="0" indent="0">
              <a:buClr>
                <a:srgbClr val="FF0000"/>
              </a:buClr>
              <a:buNone/>
            </a:pPr>
            <a:endParaRPr lang="fr-FR" sz="1200" dirty="0"/>
          </a:p>
          <a:p>
            <a:pPr lvl="0"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Approfondir l’analyse du marché immobilier</a:t>
            </a:r>
          </a:p>
          <a:p>
            <a:pPr lvl="0"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Prédire l’évolution des prix avec plus de précision</a:t>
            </a:r>
          </a:p>
          <a:p>
            <a:pPr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Optimiser l’accompagnement client</a:t>
            </a:r>
          </a:p>
          <a:p>
            <a:pPr lvl="0"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Se différencier face à la concurrence</a:t>
            </a:r>
          </a:p>
          <a:p>
            <a:pPr marL="0" lvl="0" indent="0">
              <a:buNone/>
            </a:pPr>
            <a:endParaRPr lang="fr-FR" sz="1000" dirty="0"/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6FC1D0-0CBC-6E15-4718-20475619A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BF5BA-3671-5B6B-8BD2-00414DCB280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fr-FR" sz="4400" dirty="0">
                <a:latin typeface="Bahnschrift Light SemiCondensed" panose="020B0502040204020203" pitchFamily="34" charset="0"/>
              </a:rPr>
              <a:t>📊 </a:t>
            </a:r>
            <a:r>
              <a:rPr lang="fr-FR" dirty="0">
                <a:solidFill>
                  <a:srgbClr val="FF0000"/>
                </a:solidFill>
                <a:latin typeface="Bahnschrift Light SemiCondensed" pitchFamily="34"/>
              </a:rPr>
              <a:t>Les données sources </a:t>
            </a:r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2BA8CD-5735-E482-CD94-C3401797B0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614610"/>
            <a:ext cx="10515600" cy="4351336"/>
          </a:xfrm>
        </p:spPr>
        <p:txBody>
          <a:bodyPr/>
          <a:lstStyle/>
          <a:p>
            <a:pPr marL="0" lvl="0" indent="0">
              <a:buClr>
                <a:srgbClr val="FF0000"/>
              </a:buClr>
              <a:buNone/>
            </a:pPr>
            <a:r>
              <a:rPr lang="fr-FR" dirty="0">
                <a:latin typeface="Bahnschrift SemiLight SemiConde" panose="020B0502040204020203" pitchFamily="34" charset="0"/>
              </a:rPr>
              <a:t>3 Fichiers Excel utilisés:</a:t>
            </a:r>
          </a:p>
          <a:p>
            <a:pPr marL="0" lvl="0" indent="0">
              <a:buNone/>
            </a:pPr>
            <a:endParaRPr lang="fr-FR" sz="1200" dirty="0">
              <a:latin typeface="Bahnschrift Light SemiCondensed" panose="020B0502040204020203" pitchFamily="34" charset="0"/>
            </a:endParaRP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Bahnschrift Light SemiCondensed" panose="020B0502040204020203" pitchFamily="34" charset="0"/>
              </a:rPr>
              <a:t>📁 </a:t>
            </a:r>
            <a:r>
              <a:rPr lang="fr-FR" sz="2600" dirty="0">
                <a:latin typeface="Bahnschrift Light SemiCondensed" panose="020B0502040204020203" pitchFamily="34" charset="0"/>
              </a:rPr>
              <a:t>donnees_communes (Source: INSEE), sur la population des communes françaises</a:t>
            </a: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fr-FR" sz="1100" dirty="0">
              <a:latin typeface="Bahnschrift Light SemiCondensed" panose="020B0502040204020203" pitchFamily="34" charset="0"/>
            </a:endParaRP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Bahnschrift Light SemiCondensed" panose="020B0502040204020203" pitchFamily="34" charset="0"/>
              </a:rPr>
              <a:t>📁 </a:t>
            </a:r>
            <a:r>
              <a:rPr lang="fr-FR" sz="2600" dirty="0">
                <a:latin typeface="Bahnschrift Light SemiCondensed" panose="020B0502040204020203" pitchFamily="34" charset="0"/>
              </a:rPr>
              <a:t>fr-esr-referentiel-geographique (Source: data.gouv.fr), concernant les codes géographiques des communes françaises</a:t>
            </a: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fr-FR" sz="1200" dirty="0">
              <a:latin typeface="Bahnschrift Light SemiCondensed" panose="020B0502040204020203" pitchFamily="34" charset="0"/>
            </a:endParaRP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Bahnschrift Light SemiCondensed" panose="020B0502040204020203" pitchFamily="34" charset="0"/>
              </a:rPr>
              <a:t>📁 </a:t>
            </a:r>
            <a:r>
              <a:rPr lang="fr-FR" sz="2600" dirty="0">
                <a:latin typeface="Bahnschrift Light SemiCondensed" panose="020B0502040204020203" pitchFamily="34" charset="0"/>
              </a:rPr>
              <a:t>valeurs-foncières (Source: open data DVF), sur les transactions immobilières du 1</a:t>
            </a:r>
            <a:r>
              <a:rPr lang="fr-FR" sz="2600" baseline="30000" dirty="0">
                <a:latin typeface="Bahnschrift Light SemiCondensed" panose="020B0502040204020203" pitchFamily="34" charset="0"/>
              </a:rPr>
              <a:t>er</a:t>
            </a:r>
            <a:r>
              <a:rPr lang="fr-FR" sz="2600" dirty="0">
                <a:latin typeface="Bahnschrift Light SemiCondensed" panose="020B0502040204020203" pitchFamily="34" charset="0"/>
              </a:rPr>
              <a:t> semestre 2020 en France</a:t>
            </a:r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99D0C8-9D4E-1DAF-7C71-629336D1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08722"/>
            <a:ext cx="10515600" cy="1104279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latin typeface="Bahnschrift Light SemiCondensed" panose="020B0502040204020203" pitchFamily="34" charset="0"/>
              </a:rPr>
              <a:t>📊 </a:t>
            </a:r>
            <a:r>
              <a:rPr lang="fr-FR" dirty="0">
                <a:solidFill>
                  <a:srgbClr val="FF0000"/>
                </a:solidFill>
                <a:latin typeface="Bahnschrift SemiLight" panose="020B0502040204020203" pitchFamily="34" charset="0"/>
              </a:rPr>
              <a:t>Nettoyage des données :</a:t>
            </a:r>
            <a:endParaRPr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8800"/>
            <a:ext cx="10515600" cy="44371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1200" u="sng"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dirty="0">
                <a:latin typeface="Bahnschrift Light SemiCondensed" panose="020B0502040204020203" pitchFamily="34" charset="0"/>
              </a:rPr>
              <a:t>Sélection des colonnes  de données pertinentes</a:t>
            </a:r>
          </a:p>
          <a:p>
            <a:pPr marL="0" indent="0">
              <a:buClr>
                <a:srgbClr val="FF0000"/>
              </a:buClr>
              <a:buNone/>
            </a:pPr>
            <a:endParaRPr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dirty="0">
                <a:latin typeface="Bahnschrift Light SemiCondensed" panose="020B0502040204020203" pitchFamily="34" charset="0"/>
              </a:rPr>
              <a:t>Suppression des colonnes vides ou redondantes</a:t>
            </a:r>
          </a:p>
          <a:p>
            <a:pPr marL="0" indent="0">
              <a:buClr>
                <a:srgbClr val="FF0000"/>
              </a:buClr>
              <a:buNone/>
            </a:pPr>
            <a:endParaRPr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dirty="0">
                <a:latin typeface="Bahnschrift Light SemiCondensed" panose="020B0502040204020203" pitchFamily="34" charset="0"/>
              </a:rPr>
              <a:t>Création de fichiers CSV pour chaque table de la BDD</a:t>
            </a:r>
          </a:p>
          <a:p>
            <a:pPr marL="0" indent="0" algn="ctr">
              <a:buClr>
                <a:srgbClr val="FF0000"/>
              </a:buClr>
              <a:buNone/>
            </a:pPr>
            <a:endParaRPr sz="1800" dirty="0">
              <a:latin typeface="Bahnschrift SemiLight SemiConde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ECA8EC-9919-F037-58D8-672B8C04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795101" y="6420834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-12558"/>
            <a:ext cx="10515600" cy="1325559"/>
          </a:xfrm>
        </p:spPr>
        <p:txBody>
          <a:bodyPr/>
          <a:lstStyle/>
          <a:p>
            <a:pPr algn="ctr"/>
            <a:r>
              <a:rPr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RGPD </a:t>
            </a:r>
            <a:r>
              <a:rPr lang="fr-FR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&amp; Stratégie de sauvegarde </a:t>
            </a:r>
            <a:endParaRPr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78112"/>
            <a:ext cx="10515600" cy="50877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1200" dirty="0"/>
          </a:p>
          <a:p>
            <a:pPr marL="0" indent="0" algn="ctr">
              <a:buClr>
                <a:srgbClr val="FF0000"/>
              </a:buClr>
              <a:buNone/>
            </a:pPr>
            <a:r>
              <a:rPr lang="fr-FR" sz="2400" dirty="0"/>
              <a:t>🔐 </a:t>
            </a:r>
            <a:r>
              <a:rPr lang="fr-FR" sz="2400" dirty="0">
                <a:solidFill>
                  <a:srgbClr val="FF0000"/>
                </a:solidFill>
                <a:latin typeface="Bahnschrift SemiLight" panose="020B0502040204020203" pitchFamily="34" charset="0"/>
              </a:rPr>
              <a:t>Conformité au RGPD :</a:t>
            </a:r>
          </a:p>
          <a:p>
            <a:pPr marL="0" indent="0" algn="ctr">
              <a:buClr>
                <a:srgbClr val="FF0000"/>
              </a:buClr>
              <a:buNone/>
            </a:pPr>
            <a:endParaRPr lang="fr-FR" sz="1100" u="sng" dirty="0">
              <a:solidFill>
                <a:srgbClr val="FF0000"/>
              </a:solidFill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dirty="0"/>
              <a:t> </a:t>
            </a:r>
            <a:r>
              <a:rPr lang="fr-FR" sz="2400" dirty="0">
                <a:latin typeface="Bahnschrift Light SemiCondensed" panose="020B0502040204020203" pitchFamily="34" charset="0"/>
              </a:rPr>
              <a:t>Suppression des colonnes contenant des données à caractère personnel non conformes au RGPD </a:t>
            </a:r>
          </a:p>
          <a:p>
            <a:pPr marL="0" indent="0" algn="ctr">
              <a:buClr>
                <a:srgbClr val="FF0000"/>
              </a:buClr>
              <a:buNone/>
            </a:pPr>
            <a:r>
              <a:rPr lang="fr-FR" sz="1600" u="sng" dirty="0">
                <a:latin typeface="Bahnschrift SemiLight SemiConde" panose="020B0502040204020203" pitchFamily="34" charset="0"/>
              </a:rPr>
              <a:t>Exemple:</a:t>
            </a:r>
            <a:r>
              <a:rPr lang="fr-FR" sz="1600" dirty="0">
                <a:latin typeface="Bahnschrift SemiLight SemiConde" panose="020B0502040204020203" pitchFamily="34" charset="0"/>
              </a:rPr>
              <a:t> nom de l’acquéreur dans fichier </a:t>
            </a:r>
            <a:r>
              <a:rPr lang="fr-FR" sz="1600" dirty="0" err="1">
                <a:latin typeface="Bahnschrift SemiLight SemiConde" panose="020B0502040204020203" pitchFamily="34" charset="0"/>
              </a:rPr>
              <a:t>valeurs_foncières</a:t>
            </a:r>
            <a:endParaRPr lang="fr-FR" sz="1600" dirty="0">
              <a:latin typeface="Bahnschrift SemiLight SemiConde" panose="020B0502040204020203" pitchFamily="34" charset="0"/>
            </a:endParaRPr>
          </a:p>
          <a:p>
            <a:pPr marL="0" indent="0" algn="ctr">
              <a:buClr>
                <a:srgbClr val="FF0000"/>
              </a:buClr>
              <a:buNone/>
            </a:pPr>
            <a:endParaRPr lang="fr-FR" sz="2400" dirty="0"/>
          </a:p>
          <a:p>
            <a:pPr marL="0" indent="0" algn="ctr">
              <a:buClr>
                <a:srgbClr val="FF0000"/>
              </a:buClr>
              <a:buNone/>
            </a:pPr>
            <a:r>
              <a:rPr lang="fr-FR" sz="2400" dirty="0"/>
              <a:t>💾 </a:t>
            </a:r>
            <a:r>
              <a:rPr lang="fr-FR" sz="3000" dirty="0">
                <a:solidFill>
                  <a:srgbClr val="FF0000"/>
                </a:solidFill>
                <a:latin typeface="Bahnschrift SemiLight" panose="020B0502040204020203" pitchFamily="34" charset="0"/>
              </a:rPr>
              <a:t>Sauvegarde des données:</a:t>
            </a:r>
          </a:p>
          <a:p>
            <a:pPr marL="0" indent="0" algn="ctr">
              <a:buClr>
                <a:srgbClr val="FF0000"/>
              </a:buClr>
              <a:buNone/>
            </a:pPr>
            <a:endParaRPr lang="fr-FR" sz="2400" dirty="0">
              <a:solidFill>
                <a:srgbClr val="FF0000"/>
              </a:solidFill>
              <a:latin typeface="Bahnschrift SemiLight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sz="2600" dirty="0">
                <a:latin typeface="Bahnschrift Light SemiCondensed" panose="020B0502040204020203" pitchFamily="34" charset="0"/>
              </a:rPr>
              <a:t>Réalisation d'une copie de sauvegarde quotidienne de la BDD au format SQL</a:t>
            </a:r>
          </a:p>
          <a:p>
            <a:pPr marL="0" indent="0" algn="ctr">
              <a:buClr>
                <a:srgbClr val="FF0000"/>
              </a:buClr>
              <a:buNone/>
            </a:pPr>
            <a:endParaRPr sz="1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ECA8EC-9919-F037-58D8-672B8C04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795101" y="6420834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8634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0265F-1B3B-02D7-3185-214772842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2934"/>
            <a:ext cx="10515600" cy="558602"/>
          </a:xfrm>
        </p:spPr>
        <p:txBody>
          <a:bodyPr anchorCtr="1">
            <a:normAutofit fontScale="90000"/>
          </a:bodyPr>
          <a:lstStyle/>
          <a:p>
            <a:pPr lvl="0" algn="ctr"/>
            <a:r>
              <a:rPr lang="fr-FR" dirty="0">
                <a:solidFill>
                  <a:srgbClr val="FF0000"/>
                </a:solidFill>
                <a:latin typeface="Bahnschrift Light SemiCondensed" pitchFamily="34"/>
              </a:rPr>
              <a:t>Le dictionnaire de données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9A37B8E-6A34-98B7-8565-DD077343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583881" y="6334405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E007C2C-03FC-2B4E-60C3-36626C62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97" y="1174264"/>
            <a:ext cx="9621414" cy="152918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27B8919-440A-9A04-1903-850106184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823" y="4999949"/>
            <a:ext cx="9621414" cy="9063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776D32E-BEA6-6B16-1E99-6E8470776BBB}"/>
              </a:ext>
            </a:extLst>
          </p:cNvPr>
          <p:cNvSpPr txBox="1"/>
          <p:nvPr/>
        </p:nvSpPr>
        <p:spPr>
          <a:xfrm>
            <a:off x="2729829" y="257474"/>
            <a:ext cx="658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📚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898E880-C6C5-7AA7-86AD-0E67D1418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823" y="2594113"/>
            <a:ext cx="9621414" cy="2405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B46DD1-38FF-2DC1-90F4-03645AA6833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DFEC3EC-66AB-E1A8-FAC8-EAD44A6B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A14A77E-65F4-B0C8-ACA5-48376B95E478}"/>
              </a:ext>
            </a:extLst>
          </p:cNvPr>
          <p:cNvSpPr txBox="1"/>
          <p:nvPr/>
        </p:nvSpPr>
        <p:spPr>
          <a:xfrm>
            <a:off x="838200" y="148464"/>
            <a:ext cx="10515600" cy="8374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Le schéma relationnel normalisé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567CBE-1014-DACF-08E2-35F0C49D5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96" y="985865"/>
            <a:ext cx="11006808" cy="523603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DD9D027-502C-E3C3-9862-C2A49AA51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715" y="4295642"/>
            <a:ext cx="854689" cy="57527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C1AD361-D30E-62FA-6741-BEDF3172430B}"/>
              </a:ext>
            </a:extLst>
          </p:cNvPr>
          <p:cNvSpPr txBox="1"/>
          <p:nvPr/>
        </p:nvSpPr>
        <p:spPr>
          <a:xfrm>
            <a:off x="6932643" y="4398611"/>
            <a:ext cx="3928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u="sng" dirty="0">
                <a:latin typeface="Bahnschrift SemiCondensed" panose="020B0502040204020203" pitchFamily="34" charset="0"/>
              </a:rPr>
              <a:t>Logiciel utilisé:</a:t>
            </a:r>
            <a:r>
              <a:rPr lang="fr-FR" dirty="0">
                <a:latin typeface="Bahnschrift SemiCondensed" panose="020B0502040204020203" pitchFamily="34" charset="0"/>
              </a:rPr>
              <a:t> SQL Power Architect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AA2EE59-C41C-725B-6F96-D983F94B90F0}"/>
              </a:ext>
            </a:extLst>
          </p:cNvPr>
          <p:cNvSpPr txBox="1"/>
          <p:nvPr/>
        </p:nvSpPr>
        <p:spPr>
          <a:xfrm>
            <a:off x="1838737" y="274776"/>
            <a:ext cx="7255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0F6055-CF42-F17D-0800-562D5064F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3450" y="127258"/>
            <a:ext cx="10515600" cy="633248"/>
          </a:xfrm>
        </p:spPr>
        <p:txBody>
          <a:bodyPr anchorCtr="1">
            <a:normAutofit fontScale="90000"/>
          </a:bodyPr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DA1BF3-C594-BDBC-F951-8FAD19734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1A8A623F-EE84-6BD0-7893-100A81EF8F93}"/>
              </a:ext>
            </a:extLst>
          </p:cNvPr>
          <p:cNvSpPr txBox="1"/>
          <p:nvPr/>
        </p:nvSpPr>
        <p:spPr>
          <a:xfrm>
            <a:off x="838200" y="188419"/>
            <a:ext cx="10515600" cy="6332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dirty="0">
                <a:solidFill>
                  <a:srgbClr val="FF0000"/>
                </a:solidFill>
                <a:latin typeface="Bahnschrift Light SemiCondensed" pitchFamily="34"/>
              </a:rPr>
              <a:t>Création de</a:t>
            </a: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8B81F21-05DB-E30F-841E-D0BAE66EC0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9" r="12336" b="23663"/>
          <a:stretch/>
        </p:blipFill>
        <p:spPr>
          <a:xfrm>
            <a:off x="2393467" y="1364751"/>
            <a:ext cx="1050100" cy="50096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5997707-217E-4ACC-647B-84C034E5AFF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48"/>
          <a:stretch/>
        </p:blipFill>
        <p:spPr>
          <a:xfrm>
            <a:off x="2429914" y="903984"/>
            <a:ext cx="865595" cy="4558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E977DFA-C857-9E51-AFFB-B1D249670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50" y="1972090"/>
            <a:ext cx="2167528" cy="207282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B1501A8-8D86-8ADD-211B-60A9A8C38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50" y="4154735"/>
            <a:ext cx="3002877" cy="24157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CEB7704-22A2-9F4F-1AC4-6E892BF4D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6156" y="1070360"/>
            <a:ext cx="7752638" cy="50911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E4EC0B6-9BA5-B4FA-0145-5965994664D5}"/>
              </a:ext>
            </a:extLst>
          </p:cNvPr>
          <p:cNvSpPr txBox="1"/>
          <p:nvPr/>
        </p:nvSpPr>
        <p:spPr>
          <a:xfrm>
            <a:off x="3010770" y="225351"/>
            <a:ext cx="569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🗃️</a:t>
            </a:r>
            <a:endParaRPr lang="fr-FR" sz="2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5420F29-1E5F-4314-2A2D-42F6487BD102}"/>
              </a:ext>
            </a:extLst>
          </p:cNvPr>
          <p:cNvSpPr txBox="1"/>
          <p:nvPr/>
        </p:nvSpPr>
        <p:spPr>
          <a:xfrm>
            <a:off x="608811" y="923638"/>
            <a:ext cx="1954252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u="sng" dirty="0">
                <a:latin typeface="Bahnschrift SemiCondensed" panose="020B0502040204020203" pitchFamily="34" charset="0"/>
              </a:rPr>
              <a:t>SGBD utilisé:</a:t>
            </a:r>
          </a:p>
          <a:p>
            <a:pPr>
              <a:buClr>
                <a:srgbClr val="FF0000"/>
              </a:buClr>
            </a:pPr>
            <a:endParaRPr lang="fr-FR" sz="1050" u="sng" dirty="0">
              <a:latin typeface="Bahnschrift SemiCondensed" panose="020B0502040204020203" pitchFamily="34" charset="0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u="sng" dirty="0">
                <a:latin typeface="Bahnschrift SemiCondensed" panose="020B0502040204020203" pitchFamily="34" charset="0"/>
              </a:rPr>
              <a:t>Logiciel utilisé:</a:t>
            </a:r>
            <a:r>
              <a:rPr lang="fr-FR" dirty="0">
                <a:latin typeface="Bahnschrift SemiCondensed" panose="020B0502040204020203" pitchFamily="34" charset="0"/>
              </a:rPr>
              <a:t> 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9CD71-1690-1F80-EC77-8C96AAA152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8FDF2D-2C9A-3B17-4E0C-17447141FD0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12574" y="1670451"/>
            <a:ext cx="4301412" cy="306930"/>
          </a:xfrm>
        </p:spPr>
        <p:txBody>
          <a:bodyPr>
            <a:normAutofit fontScale="55000" lnSpcReduction="20000"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b="1" u="sng" dirty="0">
                <a:latin typeface="Bahnschrift SemiBold Condensed" panose="020B0502040204020203" pitchFamily="34" charset="0"/>
              </a:rPr>
              <a:t>Nombre total d’appartements vendus au 1er semestre 2020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ADB3DF-9975-A1D7-8705-F892B92B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DCF4FC58-8ACC-2F15-AADC-ED614B1B6D3C}"/>
              </a:ext>
            </a:extLst>
          </p:cNvPr>
          <p:cNvSpPr txBox="1"/>
          <p:nvPr/>
        </p:nvSpPr>
        <p:spPr>
          <a:xfrm>
            <a:off x="705480" y="131550"/>
            <a:ext cx="10515600" cy="9539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2FA3612-4A67-A00B-62E4-A33AE5793E6C}"/>
              </a:ext>
            </a:extLst>
          </p:cNvPr>
          <p:cNvSpPr txBox="1"/>
          <p:nvPr/>
        </p:nvSpPr>
        <p:spPr>
          <a:xfrm>
            <a:off x="838197" y="33229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DC519A1-CF95-65B3-26B0-78E3542CF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2562350"/>
            <a:ext cx="7520941" cy="2807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9CD71-1690-1F80-EC77-8C96AAA152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ADB3DF-9975-A1D7-8705-F892B92B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DCF4FC58-8ACC-2F15-AADC-ED614B1B6D3C}"/>
              </a:ext>
            </a:extLst>
          </p:cNvPr>
          <p:cNvSpPr txBox="1"/>
          <p:nvPr/>
        </p:nvSpPr>
        <p:spPr>
          <a:xfrm>
            <a:off x="705480" y="131550"/>
            <a:ext cx="10515600" cy="9539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CCCAC5F5-8D68-4650-3704-B62A7E0BBC08}"/>
              </a:ext>
            </a:extLst>
          </p:cNvPr>
          <p:cNvSpPr txBox="1">
            <a:spLocks/>
          </p:cNvSpPr>
          <p:nvPr/>
        </p:nvSpPr>
        <p:spPr>
          <a:xfrm>
            <a:off x="3149277" y="1234620"/>
            <a:ext cx="6147123" cy="2914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b="1" u="sng" dirty="0">
                <a:latin typeface="Bahnschrift SemiBold Condensed" panose="020B0502040204020203" pitchFamily="34" charset="0"/>
              </a:rPr>
              <a:t>Le nombre de ventes d’appartement par région pour le 1er semestre 2020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391EF1C-4D6B-CD8B-C00B-BCEEFD22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813" y="1924267"/>
            <a:ext cx="5345227" cy="362744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2FA3612-4A67-A00B-62E4-A33AE5793E6C}"/>
              </a:ext>
            </a:extLst>
          </p:cNvPr>
          <p:cNvSpPr txBox="1"/>
          <p:nvPr/>
        </p:nvSpPr>
        <p:spPr>
          <a:xfrm>
            <a:off x="838197" y="33229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2FD4340-D8F9-407C-C54E-7E717129A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80" y="1924267"/>
            <a:ext cx="5089033" cy="362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98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87921-3131-79B6-8E52-EFD01B94A7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A0DE5F-C0BD-F190-6A5A-E76A106737C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61212" y="1195214"/>
            <a:ext cx="5692633" cy="319971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Proportion des ventes d’appartements selon le nombre de pièces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706B56-F639-8750-107B-478A66D5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9C824CD3-EE2E-5207-97DD-A733304DE0F7}"/>
              </a:ext>
            </a:extLst>
          </p:cNvPr>
          <p:cNvSpPr txBox="1"/>
          <p:nvPr/>
        </p:nvSpPr>
        <p:spPr>
          <a:xfrm>
            <a:off x="743802" y="29641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286C53-2D41-95E3-4001-01070DE5D826}"/>
              </a:ext>
            </a:extLst>
          </p:cNvPr>
          <p:cNvSpPr txBox="1"/>
          <p:nvPr/>
        </p:nvSpPr>
        <p:spPr>
          <a:xfrm>
            <a:off x="838197" y="430810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A308791-4B03-2393-DD51-73C7D156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415" y="1685190"/>
            <a:ext cx="9579170" cy="4549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87921-3131-79B6-8E52-EFD01B94A7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706B56-F639-8750-107B-478A66D5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9C824CD3-EE2E-5207-97DD-A733304DE0F7}"/>
              </a:ext>
            </a:extLst>
          </p:cNvPr>
          <p:cNvSpPr txBox="1"/>
          <p:nvPr/>
        </p:nvSpPr>
        <p:spPr>
          <a:xfrm>
            <a:off x="838197" y="69829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08EEF04F-347A-2CF9-7D03-400B48E94B2A}"/>
              </a:ext>
            </a:extLst>
          </p:cNvPr>
          <p:cNvSpPr txBox="1">
            <a:spLocks/>
          </p:cNvSpPr>
          <p:nvPr/>
        </p:nvSpPr>
        <p:spPr>
          <a:xfrm>
            <a:off x="3676258" y="1185497"/>
            <a:ext cx="4839478" cy="3354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Top 10  des départements par prix moyen au  m²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286C53-2D41-95E3-4001-01070DE5D826}"/>
              </a:ext>
            </a:extLst>
          </p:cNvPr>
          <p:cNvSpPr txBox="1"/>
          <p:nvPr/>
        </p:nvSpPr>
        <p:spPr>
          <a:xfrm>
            <a:off x="838191" y="47099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16AC4A3-B3F5-50A0-DF5F-F12735E4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919288"/>
            <a:ext cx="6497540" cy="39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92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A33A0-C43E-D357-1AEE-D1650B3C9DC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CB583C-BCD2-32A9-4A68-B4933DD8CA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733801" y="1497658"/>
            <a:ext cx="4724397" cy="448000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Prix moyen au m² d’une maison en Île-de-France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50E080-A72C-D756-D50B-2E022EC1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DA8C882-D4AA-36A7-04E2-09091D275976}"/>
              </a:ext>
            </a:extLst>
          </p:cNvPr>
          <p:cNvSpPr txBox="1"/>
          <p:nvPr/>
        </p:nvSpPr>
        <p:spPr>
          <a:xfrm>
            <a:off x="838203" y="365130"/>
            <a:ext cx="10515600" cy="10050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24828F2-FEDE-321E-3754-4062E6132D80}"/>
              </a:ext>
            </a:extLst>
          </p:cNvPr>
          <p:cNvSpPr txBox="1"/>
          <p:nvPr/>
        </p:nvSpPr>
        <p:spPr>
          <a:xfrm>
            <a:off x="838197" y="63903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E28419E-6E6A-7086-4192-175C8554A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337570"/>
            <a:ext cx="6781800" cy="33545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A33A0-C43E-D357-1AEE-D1650B3C9DC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50E080-A72C-D756-D50B-2E022EC1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DA8C882-D4AA-36A7-04E2-09091D275976}"/>
              </a:ext>
            </a:extLst>
          </p:cNvPr>
          <p:cNvSpPr txBox="1"/>
          <p:nvPr/>
        </p:nvSpPr>
        <p:spPr>
          <a:xfrm>
            <a:off x="838197" y="106247"/>
            <a:ext cx="10515600" cy="10050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A44EAA1-58C9-84A7-1158-3E48A165591B}"/>
              </a:ext>
            </a:extLst>
          </p:cNvPr>
          <p:cNvSpPr txBox="1">
            <a:spLocks/>
          </p:cNvSpPr>
          <p:nvPr/>
        </p:nvSpPr>
        <p:spPr>
          <a:xfrm>
            <a:off x="4158409" y="1209915"/>
            <a:ext cx="4088844" cy="480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Top 10  des appartements les plus chers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24828F2-FEDE-321E-3754-4062E6132D80}"/>
              </a:ext>
            </a:extLst>
          </p:cNvPr>
          <p:cNvSpPr txBox="1"/>
          <p:nvPr/>
        </p:nvSpPr>
        <p:spPr>
          <a:xfrm>
            <a:off x="838191" y="34449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09AD8A-FF2F-9143-B3D2-6C3AC327B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811" y="1711322"/>
            <a:ext cx="7178040" cy="43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35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5191F-3C3E-5C5D-647E-C77B0E6955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4E7EA9-9FB5-A746-98C7-877A55EDA81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25887" y="1314920"/>
            <a:ext cx="7540219" cy="351235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Evolution des ventes  en % entre le premier et le second trimestre de 2020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F72AFE-75EF-2980-484E-06211EFC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85D22E9B-C829-2B0D-B136-1044F4B0594D}"/>
              </a:ext>
            </a:extLst>
          </p:cNvPr>
          <p:cNvSpPr txBox="1"/>
          <p:nvPr/>
        </p:nvSpPr>
        <p:spPr>
          <a:xfrm>
            <a:off x="838197" y="259115"/>
            <a:ext cx="10515600" cy="9875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71352FA-E4CF-D2EB-5EAD-3AA5D2F8C480}"/>
              </a:ext>
            </a:extLst>
          </p:cNvPr>
          <p:cNvSpPr txBox="1"/>
          <p:nvPr/>
        </p:nvSpPr>
        <p:spPr>
          <a:xfrm>
            <a:off x="937588" y="514887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222A33B-7BFB-3477-981E-86277533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542" y="2076332"/>
            <a:ext cx="8520564" cy="37579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5191F-3C3E-5C5D-647E-C77B0E6955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F72AFE-75EF-2980-484E-06211EFC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85D22E9B-C829-2B0D-B136-1044F4B0594D}"/>
              </a:ext>
            </a:extLst>
          </p:cNvPr>
          <p:cNvSpPr txBox="1"/>
          <p:nvPr/>
        </p:nvSpPr>
        <p:spPr>
          <a:xfrm>
            <a:off x="838200" y="21089"/>
            <a:ext cx="10515600" cy="9875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DCE7C4-C362-C706-23FA-3DBDBA7BECE6}"/>
              </a:ext>
            </a:extLst>
          </p:cNvPr>
          <p:cNvSpPr txBox="1"/>
          <p:nvPr/>
        </p:nvSpPr>
        <p:spPr>
          <a:xfrm>
            <a:off x="2676871" y="999563"/>
            <a:ext cx="6838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u="sng" dirty="0">
                <a:latin typeface="Bahnschrift SemiBold Condensed" panose="020B0502040204020203" pitchFamily="34" charset="0"/>
              </a:rPr>
              <a:t>Le classement des régions selon le  prix au mètre carré (appartement</a:t>
            </a:r>
            <a:r>
              <a:rPr lang="fr-FR" u="sng" dirty="0"/>
              <a:t> &gt; </a:t>
            </a:r>
            <a:r>
              <a:rPr lang="fr-FR" u="sng" dirty="0">
                <a:latin typeface="Bahnschrift SemiBold Condensed" panose="020B0502040204020203" pitchFamily="34" charset="0"/>
              </a:rPr>
              <a:t>4 pièces)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71352FA-E4CF-D2EB-5EAD-3AA5D2F8C480}"/>
              </a:ext>
            </a:extLst>
          </p:cNvPr>
          <p:cNvSpPr txBox="1"/>
          <p:nvPr/>
        </p:nvSpPr>
        <p:spPr>
          <a:xfrm>
            <a:off x="926702" y="25327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2214751-0E48-BC04-0B72-BD081E35B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284" y="1584723"/>
            <a:ext cx="7521211" cy="438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08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EEDEF-C3E6-D39E-8B57-6F77D6362E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B4FA9D-3308-1130-CC03-B3CAD0C777D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056402" y="931804"/>
            <a:ext cx="6840900" cy="410694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Communes ayant enregistré au moins 50 ventes au 1er trimestre 2020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8DFD52-9006-FFB2-689B-EA576333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AB9362B-F813-D00B-10D0-33A399AF3F11}"/>
              </a:ext>
            </a:extLst>
          </p:cNvPr>
          <p:cNvSpPr txBox="1"/>
          <p:nvPr/>
        </p:nvSpPr>
        <p:spPr>
          <a:xfrm>
            <a:off x="679582" y="-1"/>
            <a:ext cx="10515600" cy="8863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018A715-BFD4-58DF-ECEE-7F1992F4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089" y="2023655"/>
            <a:ext cx="2387625" cy="416166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1B50AC3-5BE6-90B1-FCA7-3738C1EFE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690" y="2023655"/>
            <a:ext cx="2467492" cy="43902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58BEB21-9879-EAF8-E382-54B8F065415C}"/>
              </a:ext>
            </a:extLst>
          </p:cNvPr>
          <p:cNvSpPr txBox="1"/>
          <p:nvPr/>
        </p:nvSpPr>
        <p:spPr>
          <a:xfrm>
            <a:off x="688519" y="18138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4EB54B-ED09-AE01-2289-BB6F1BD8A6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9622" b="61639"/>
          <a:stretch/>
        </p:blipFill>
        <p:spPr>
          <a:xfrm>
            <a:off x="6202831" y="1549424"/>
            <a:ext cx="4951461" cy="42879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B58490-BC7F-0A42-48B0-CE9DBF2AE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298" y="1575028"/>
            <a:ext cx="4897761" cy="30759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EEDEF-C3E6-D39E-8B57-6F77D6362E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8DFD52-9006-FFB2-689B-EA576333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AB9362B-F813-D00B-10D0-33A399AF3F11}"/>
              </a:ext>
            </a:extLst>
          </p:cNvPr>
          <p:cNvSpPr txBox="1"/>
          <p:nvPr/>
        </p:nvSpPr>
        <p:spPr>
          <a:xfrm>
            <a:off x="723125" y="0"/>
            <a:ext cx="10515600" cy="8883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A8749DEC-8347-4AA2-6819-808DE9FB2927}"/>
              </a:ext>
            </a:extLst>
          </p:cNvPr>
          <p:cNvSpPr txBox="1">
            <a:spLocks/>
          </p:cNvSpPr>
          <p:nvPr/>
        </p:nvSpPr>
        <p:spPr>
          <a:xfrm>
            <a:off x="3041278" y="919450"/>
            <a:ext cx="6124493" cy="66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Ecart de prix au m² en %  entre des  appartements de 2 pièces et  3 pièces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58BEB21-9879-EAF8-E382-54B8F065415C}"/>
              </a:ext>
            </a:extLst>
          </p:cNvPr>
          <p:cNvSpPr txBox="1"/>
          <p:nvPr/>
        </p:nvSpPr>
        <p:spPr>
          <a:xfrm>
            <a:off x="838197" y="182564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209AAB2-0599-F981-0E81-1A41C6A4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83" y="1524000"/>
            <a:ext cx="9160034" cy="38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65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19ACDB-29EE-E441-DC3A-6F608CF62C9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112353" y="1184258"/>
            <a:ext cx="8490332" cy="434649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Valeurs foncières moyennes : Top 3 des communes des départements 06, 13, 33, 59 et 69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1E49742D-0107-1166-9730-9AB2919DA257}"/>
              </a:ext>
            </a:extLst>
          </p:cNvPr>
          <p:cNvSpPr txBox="1"/>
          <p:nvPr/>
        </p:nvSpPr>
        <p:spPr>
          <a:xfrm>
            <a:off x="838200" y="87369"/>
            <a:ext cx="10515600" cy="8653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F86EAC2-669B-BBE5-46ED-0715B11111B5}"/>
              </a:ext>
            </a:extLst>
          </p:cNvPr>
          <p:cNvSpPr txBox="1"/>
          <p:nvPr/>
        </p:nvSpPr>
        <p:spPr>
          <a:xfrm>
            <a:off x="838197" y="25843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8716AEB-F362-070E-74F5-A47E47F5D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08" y="1852756"/>
            <a:ext cx="5563082" cy="429956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25C9033-5D06-8248-1438-873A0EC58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519" y="1850442"/>
            <a:ext cx="5309179" cy="42995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1E49742D-0107-1166-9730-9AB2919DA257}"/>
              </a:ext>
            </a:extLst>
          </p:cNvPr>
          <p:cNvSpPr txBox="1"/>
          <p:nvPr/>
        </p:nvSpPr>
        <p:spPr>
          <a:xfrm>
            <a:off x="838200" y="87369"/>
            <a:ext cx="10515600" cy="9903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4E74451-DC8C-2567-EE47-11DC1A280CD8}"/>
              </a:ext>
            </a:extLst>
          </p:cNvPr>
          <p:cNvSpPr txBox="1">
            <a:spLocks/>
          </p:cNvSpPr>
          <p:nvPr/>
        </p:nvSpPr>
        <p:spPr>
          <a:xfrm>
            <a:off x="1955627" y="1176833"/>
            <a:ext cx="7549788" cy="438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Les 20 communes </a:t>
            </a:r>
            <a:r>
              <a:rPr lang="fr-FR" sz="1800" u="sng" dirty="0">
                <a:latin typeface="+mn-lt"/>
              </a:rPr>
              <a:t>(&gt;</a:t>
            </a:r>
            <a:r>
              <a:rPr lang="fr-FR" sz="1800" u="sng" dirty="0">
                <a:latin typeface="Bahnschrift SemiBold Condensed" panose="020B0502040204020203" pitchFamily="34" charset="0"/>
              </a:rPr>
              <a:t> 10000 habitants) avec le plus de transactions pour 1000 habitants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6D53FED-8B53-B0B4-8370-2D975E0F9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389" y="1848622"/>
            <a:ext cx="5311727" cy="431269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F86EAC2-669B-BBE5-46ED-0715B11111B5}"/>
              </a:ext>
            </a:extLst>
          </p:cNvPr>
          <p:cNvSpPr txBox="1"/>
          <p:nvPr/>
        </p:nvSpPr>
        <p:spPr>
          <a:xfrm>
            <a:off x="953680" y="343641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794D75-D058-C0C7-26E4-7510281C5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93" y="1863872"/>
            <a:ext cx="5997228" cy="39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54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079DF78-E529-98FC-5FA6-CE1D4E0070EF}"/>
              </a:ext>
            </a:extLst>
          </p:cNvPr>
          <p:cNvSpPr txBox="1"/>
          <p:nvPr/>
        </p:nvSpPr>
        <p:spPr>
          <a:xfrm>
            <a:off x="1340127" y="365129"/>
            <a:ext cx="86371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Conclusion</a:t>
            </a:r>
            <a:r>
              <a:rPr lang="fr-FR" sz="40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1B5AFC5-3822-D0C1-00B0-ED5B3A0947F1}"/>
              </a:ext>
            </a:extLst>
          </p:cNvPr>
          <p:cNvSpPr txBox="1"/>
          <p:nvPr/>
        </p:nvSpPr>
        <p:spPr>
          <a:xfrm>
            <a:off x="1340127" y="1454291"/>
            <a:ext cx="87580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fr-FR" sz="2800" b="1" u="sng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DATAImmo aujourd’hui :</a:t>
            </a:r>
          </a:p>
          <a:p>
            <a:pPr algn="ctr"/>
            <a:endParaRPr lang="fr-FR" sz="1200" b="1"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Structure et analyse les données immobilières collectées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Permet une meilleur compréhension du marché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Permet d’anticiper les évolutions du marché immobiliers</a:t>
            </a: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   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259B07C-D3ED-B643-C091-6658F9F53EFF}"/>
              </a:ext>
            </a:extLst>
          </p:cNvPr>
          <p:cNvSpPr txBox="1"/>
          <p:nvPr/>
        </p:nvSpPr>
        <p:spPr>
          <a:xfrm>
            <a:off x="1340127" y="3897086"/>
            <a:ext cx="875802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fr-FR" sz="2800" b="1" u="sng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DATAImmo demain:</a:t>
            </a:r>
          </a:p>
          <a:p>
            <a:pPr algn="ctr"/>
            <a:endParaRPr lang="fr-FR" sz="1200" b="1" dirty="0">
              <a:latin typeface="Bahnschrift Light SemiCondensed" panose="020B0502040204020203" pitchFamily="34" charset="0"/>
            </a:endParaRP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 Prédiction des prix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</a:t>
            </a:r>
            <a:r>
              <a:rPr lang="fr-FR" sz="2400" b="1" dirty="0">
                <a:latin typeface="Bahnschrift Light SemiCondensed" panose="020B0502040204020203" pitchFamily="34" charset="0"/>
              </a:rPr>
              <a:t>Recommandation de biens ciblés</a:t>
            </a: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 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71D721B-B789-1B1D-55AC-AB216D0CD230}"/>
              </a:ext>
            </a:extLst>
          </p:cNvPr>
          <p:cNvSpPr txBox="1"/>
          <p:nvPr/>
        </p:nvSpPr>
        <p:spPr>
          <a:xfrm>
            <a:off x="3717116" y="504212"/>
            <a:ext cx="728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</a:pPr>
            <a:r>
              <a:rPr lang="fr-FR" sz="3600" dirty="0"/>
              <a:t>🎓</a:t>
            </a:r>
          </a:p>
        </p:txBody>
      </p:sp>
    </p:spTree>
    <p:extLst>
      <p:ext uri="{BB962C8B-B14F-4D97-AF65-F5344CB8AC3E}">
        <p14:creationId xmlns:p14="http://schemas.microsoft.com/office/powerpoint/2010/main" val="697745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079DF78-E529-98FC-5FA6-CE1D4E0070EF}"/>
              </a:ext>
            </a:extLst>
          </p:cNvPr>
          <p:cNvSpPr txBox="1"/>
          <p:nvPr/>
        </p:nvSpPr>
        <p:spPr>
          <a:xfrm>
            <a:off x="1777448" y="2230543"/>
            <a:ext cx="86371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Merci  de  votre attention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1B5AFC5-3822-D0C1-00B0-ED5B3A0947F1}"/>
              </a:ext>
            </a:extLst>
          </p:cNvPr>
          <p:cNvSpPr txBox="1"/>
          <p:nvPr/>
        </p:nvSpPr>
        <p:spPr>
          <a:xfrm>
            <a:off x="4629149" y="3919572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latin typeface="Bahnschrift Light SemiCondensed" panose="020B0502040204020203" pitchFamily="34" charset="0"/>
              </a:rPr>
              <a:t>À vos questions !  </a:t>
            </a: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2662036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2933</TotalTime>
  <Words>570</Words>
  <Application>Microsoft Office PowerPoint</Application>
  <PresentationFormat>Grand écran</PresentationFormat>
  <Paragraphs>124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4" baseType="lpstr">
      <vt:lpstr>Arial</vt:lpstr>
      <vt:lpstr>Bahnschrift Light SemiCondensed</vt:lpstr>
      <vt:lpstr>Bahnschrift SemiBold</vt:lpstr>
      <vt:lpstr>Bahnschrift SemiBold Condensed</vt:lpstr>
      <vt:lpstr>Bahnschrift SemiCondensed</vt:lpstr>
      <vt:lpstr>Bahnschrift SemiLight</vt:lpstr>
      <vt:lpstr>Bahnschrift SemiLight SemiConde</vt:lpstr>
      <vt:lpstr>Calibri</vt:lpstr>
      <vt:lpstr>Calibri Light</vt:lpstr>
      <vt:lpstr>Wingdings</vt:lpstr>
      <vt:lpstr>Thème Office</vt:lpstr>
      <vt:lpstr>Présentation PowerPoint</vt:lpstr>
      <vt:lpstr>Sommaire</vt:lpstr>
      <vt:lpstr>📌 Le contexte du projet</vt:lpstr>
      <vt:lpstr>📊 Les données sources  </vt:lpstr>
      <vt:lpstr>📊 Nettoyage des données :</vt:lpstr>
      <vt:lpstr>RGPD &amp; Stratégie de sauvegarde </vt:lpstr>
      <vt:lpstr>Le dictionnaire de données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Remy Maupetit</dc:creator>
  <cp:lastModifiedBy>Remy Maupetit</cp:lastModifiedBy>
  <cp:revision>75</cp:revision>
  <dcterms:created xsi:type="dcterms:W3CDTF">2025-06-25T11:49:30Z</dcterms:created>
  <dcterms:modified xsi:type="dcterms:W3CDTF">2026-02-25T12:25:01Z</dcterms:modified>
</cp:coreProperties>
</file>