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70" r:id="rId9"/>
    <p:sldId id="271" r:id="rId10"/>
    <p:sldId id="272" r:id="rId11"/>
    <p:sldId id="273" r:id="rId12"/>
    <p:sldId id="267" r:id="rId13"/>
    <p:sldId id="262" r:id="rId14"/>
    <p:sldId id="268" r:id="rId15"/>
    <p:sldId id="263" r:id="rId16"/>
    <p:sldId id="296" r:id="rId17"/>
    <p:sldId id="297" r:id="rId18"/>
    <p:sldId id="279" r:id="rId19"/>
    <p:sldId id="281" r:id="rId20"/>
    <p:sldId id="282" r:id="rId21"/>
    <p:sldId id="284" r:id="rId22"/>
    <p:sldId id="285" r:id="rId23"/>
    <p:sldId id="287" r:id="rId24"/>
    <p:sldId id="288" r:id="rId25"/>
    <p:sldId id="289" r:id="rId26"/>
    <p:sldId id="291" r:id="rId27"/>
    <p:sldId id="292" r:id="rId28"/>
    <p:sldId id="293" r:id="rId29"/>
    <p:sldId id="294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4466A2"/>
    <a:srgbClr val="6581B2"/>
    <a:srgbClr val="FDE725"/>
    <a:srgbClr val="FFFFFF"/>
    <a:srgbClr val="21918C"/>
    <a:srgbClr val="440154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6C609A-9234-CBA2-DFF1-27E208536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E761716-C5FD-75FC-8705-D87DCF987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EA1631-6E81-EE15-276A-3205F1CF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D63F92-EB83-4D81-0AEC-D00416015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63099D-EE76-E7E9-EFEA-21D15680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75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30E79E-3B54-0890-731B-4D5A5FD7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C8DBE5-D739-19C5-1182-753B5B43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6F0626-D33B-4334-9E57-F1666330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8247BE-C4F4-A418-7244-AB420BCF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95090D-16A3-4C39-A326-5367042A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80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62702-0440-0145-78D7-B0B44558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B312AC-2CB9-C42C-D766-6C6808B45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33D501-52AF-D87B-3238-54B4D96E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5EB8C-3A67-DEA1-CDF2-CE75C505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869027-1CA2-D28F-D27F-4BB88821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31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4E57B0-E8B3-7477-2E21-EBF713AE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5A5980-6FBA-89E5-7365-669F0FEB1C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7898DC-9762-BCAF-1DC6-4B95615CE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61C478-3D63-2978-D0F8-124F2CA28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6482E9-D921-BC00-0588-EAC49471F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F80DD8-A2C5-7690-7CB3-77EF8090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842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FDBB0D-BAB8-2AA4-644E-ABF9A6979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4A3F93-F5A8-ACB7-6770-9E31D0D3A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6149B5-B545-8F05-1667-EDC8C8FD2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DC8B6B6-7124-15E1-C862-678476B05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46C991B-9651-607A-AE3A-3ECB51B6B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E21A5DB-50F5-65F6-B961-2E3D115B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0B8B3C8-A2BA-2365-F1E6-3AC5DA68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108335C-AEBD-A19E-1BA7-4CB0FD33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16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F526B0-D9AB-8570-C172-38B661184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E0649FA-04E2-8A86-3A3B-8D06632C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921064-8E79-B859-622F-92E382A6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87CFD5-9FFB-3816-DADB-CF047D23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022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469E047-0C33-2AEF-5552-54FF6C624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E0D83A-16B7-7EF9-A0D1-09E91F10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EA55A8-9D47-12B8-F1CC-C52C4890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7831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A38E4-DFFC-93C3-C3BC-CC76A4C4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AA1E62-6C16-0A4D-184F-9289768CF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50BF46-080A-0DF9-3F83-A04B21A13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F00B53-B6E1-50EC-B024-C73C248A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CA9909-D91D-213E-8B29-1FD8BF7E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00A18A-2C24-D62A-F542-EC02637B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8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B60334-E009-5D84-F657-3F816ED82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A33607-4D06-669D-8B17-D28B7F44C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3195F1-4B00-F637-22A4-40EE493AD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C98B61-CA0D-1CBD-9CBF-7E4511A2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83C551-6FF2-1CCE-F24C-555E46B8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1FCC63-7EA3-5FED-183E-5CA87EEA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79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395392-5924-C746-AFF7-1FCB841F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EB657B-C812-C5A7-4E7B-05EEE3D9E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B8F583-C5EF-8C35-5673-7EA8B7D38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DF9B5D-C529-AC93-5E42-6F1477A0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718A85-3399-F05C-F51E-DA8A2507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981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76EB4B7-7E85-3997-B93C-490BBD216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A8E2E6-EC98-3DD6-C22D-887F8AD4D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5F4B0E-3568-7E9B-92AE-57B6E9D33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56A19F-6B55-ADAC-8541-7618955D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9F3648-45EF-8597-2C7A-F27F4E2F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61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5F910B5-6630-5462-C61C-956199CFF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142257-6CE9-E0AD-0B53-03B9021A7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F9A0E4-1309-91ED-35B6-0D73320A3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B2CBC-DAC7-473D-AC9D-EEBF29D97B6F}" type="datetimeFigureOut">
              <a:rPr lang="fr-FR" smtClean="0"/>
              <a:t>03/11/2025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C1A2EC-A70B-66CB-0CC6-D9B8A9769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9F7DA3-FD0F-27DD-F7C6-16F859D40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F4029-CBEB-4F16-97C9-90812BAFE0E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7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3AB943AE-90EB-1C8C-E3CB-EF3AB58C04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3392128" y="669874"/>
            <a:ext cx="5132440" cy="163215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E055A16-50A4-A781-6A8B-5648D7B3DE01}"/>
              </a:ext>
            </a:extLst>
          </p:cNvPr>
          <p:cNvSpPr txBox="1"/>
          <p:nvPr/>
        </p:nvSpPr>
        <p:spPr>
          <a:xfrm>
            <a:off x="1784554" y="2742448"/>
            <a:ext cx="86228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Verdana" panose="020B0604030504040204" pitchFamily="34" charset="0"/>
                <a:ea typeface="Verdana" panose="020B0604030504040204" pitchFamily="34" charset="0"/>
              </a:rPr>
              <a:t>ANALYSE DES VENTES </a:t>
            </a:r>
          </a:p>
          <a:p>
            <a:pPr algn="ctr"/>
            <a:r>
              <a:rPr lang="fr-FR" sz="2800" b="1" dirty="0">
                <a:latin typeface="Verdana" panose="020B0604030504040204" pitchFamily="34" charset="0"/>
                <a:ea typeface="Verdana" panose="020B0604030504040204" pitchFamily="34" charset="0"/>
              </a:rPr>
              <a:t>ET </a:t>
            </a:r>
          </a:p>
          <a:p>
            <a:pPr algn="ctr"/>
            <a:r>
              <a:rPr lang="fr-FR" sz="2800" b="1" dirty="0">
                <a:latin typeface="Verdana" panose="020B0604030504040204" pitchFamily="34" charset="0"/>
                <a:ea typeface="Verdana" panose="020B0604030504040204" pitchFamily="34" charset="0"/>
              </a:rPr>
              <a:t>DES COMPORTEMENTS CLIENTS</a:t>
            </a:r>
            <a:endParaRPr lang="fr-FR" sz="3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CC6602-A836-38B3-60EE-B6C282B08B17}"/>
              </a:ext>
            </a:extLst>
          </p:cNvPr>
          <p:cNvSpPr txBox="1"/>
          <p:nvPr/>
        </p:nvSpPr>
        <p:spPr>
          <a:xfrm>
            <a:off x="9881419" y="5756786"/>
            <a:ext cx="1986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Rémy Maupetit</a:t>
            </a:r>
          </a:p>
          <a:p>
            <a:pPr algn="ctr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fr-FR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Analyst</a:t>
            </a:r>
            <a:endParaRPr lang="fr-FR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Octobre 2025</a:t>
            </a:r>
          </a:p>
        </p:txBody>
      </p:sp>
      <p:pic>
        <p:nvPicPr>
          <p:cNvPr id="3" name="Graphique 2" descr="Livres avec un remplissage uni">
            <a:extLst>
              <a:ext uri="{FF2B5EF4-FFF2-40B4-BE49-F238E27FC236}">
                <a16:creationId xmlns:a16="http://schemas.microsoft.com/office/drawing/2014/main" id="{5CA4F5FE-D505-5488-98F8-5140204B2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1148" y="47525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2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BE055A16-50A4-A781-6A8B-5648D7B3DE01}"/>
              </a:ext>
            </a:extLst>
          </p:cNvPr>
          <p:cNvSpPr txBox="1"/>
          <p:nvPr/>
        </p:nvSpPr>
        <p:spPr>
          <a:xfrm>
            <a:off x="1467793" y="553398"/>
            <a:ext cx="8622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latin typeface="Verdana" panose="020B0604030504040204" pitchFamily="34" charset="0"/>
                <a:ea typeface="Verdana" panose="020B0604030504040204" pitchFamily="34" charset="0"/>
              </a:rPr>
              <a:t>ANALYSE DES VENTES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C193C2A-F93C-60A2-2A32-673211D6B666}"/>
              </a:ext>
            </a:extLst>
          </p:cNvPr>
          <p:cNvSpPr txBox="1"/>
          <p:nvPr/>
        </p:nvSpPr>
        <p:spPr>
          <a:xfrm>
            <a:off x="2109591" y="2115211"/>
            <a:ext cx="757173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UcPeriod"/>
            </a:pPr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Analyse du chiffre d’affaires </a:t>
            </a:r>
            <a:r>
              <a:rPr lang="fr-FR" sz="2000" b="1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Slides 3 à 6</a:t>
            </a:r>
          </a:p>
          <a:p>
            <a:endParaRPr lang="fr-FR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II. Analyse des transactions </a:t>
            </a:r>
            <a:r>
              <a:rPr lang="fr-FR" sz="2000" b="1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 7</a:t>
            </a:r>
          </a:p>
          <a:p>
            <a:endParaRPr lang="fr-FR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III. Analyse des  données produits </a:t>
            </a:r>
            <a:r>
              <a:rPr lang="fr-FR" sz="2000" b="1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Slides 8 à 11</a:t>
            </a:r>
          </a:p>
          <a:p>
            <a:endParaRPr lang="fr-FR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IV. Analyse des données clients </a:t>
            </a:r>
            <a:r>
              <a:rPr lang="fr-FR" sz="2000" b="1" i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Slides 12 à 15</a:t>
            </a:r>
          </a:p>
          <a:p>
            <a:endParaRPr lang="fr-FR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77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3C4A823-D856-B649-6977-F413E6A57BB2}"/>
              </a:ext>
            </a:extLst>
          </p:cNvPr>
          <p:cNvSpPr txBox="1"/>
          <p:nvPr/>
        </p:nvSpPr>
        <p:spPr>
          <a:xfrm>
            <a:off x="1497173" y="200210"/>
            <a:ext cx="862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 chiffre d’affaires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2F4E7A0-8549-3717-3D8B-476BE0B78360}"/>
              </a:ext>
            </a:extLst>
          </p:cNvPr>
          <p:cNvSpPr txBox="1"/>
          <p:nvPr/>
        </p:nvSpPr>
        <p:spPr>
          <a:xfrm>
            <a:off x="-169820" y="919315"/>
            <a:ext cx="6985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I. Evolution du chiffre d’affaires mensuels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E067B41-187D-DAA5-93DC-A966C6E55EBB}"/>
              </a:ext>
            </a:extLst>
          </p:cNvPr>
          <p:cNvSpPr txBox="1"/>
          <p:nvPr/>
        </p:nvSpPr>
        <p:spPr>
          <a:xfrm>
            <a:off x="629265" y="5761706"/>
            <a:ext cx="284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 TOTAL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12 027 663 €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24104CD-9080-F0AD-27F2-0006928FDBE2}"/>
              </a:ext>
            </a:extLst>
          </p:cNvPr>
          <p:cNvSpPr txBox="1"/>
          <p:nvPr/>
        </p:nvSpPr>
        <p:spPr>
          <a:xfrm>
            <a:off x="3962401" y="5761705"/>
            <a:ext cx="3421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 MENSUEL MOYEN 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501 153 €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EA7E448-D7CF-4AB1-5686-15F58CE129BD}"/>
              </a:ext>
            </a:extLst>
          </p:cNvPr>
          <p:cNvSpPr txBox="1"/>
          <p:nvPr/>
        </p:nvSpPr>
        <p:spPr>
          <a:xfrm>
            <a:off x="7875640" y="5742040"/>
            <a:ext cx="3421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 QUOTIDIEN  MOYEN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16 476 €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7996C1D-3274-E80F-FC9E-8253B27C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5" y="1467517"/>
            <a:ext cx="10668000" cy="414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81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529976" y="6308625"/>
            <a:ext cx="1132048" cy="360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988652F-F597-DD26-BF8A-731124919114}"/>
              </a:ext>
            </a:extLst>
          </p:cNvPr>
          <p:cNvSpPr txBox="1"/>
          <p:nvPr/>
        </p:nvSpPr>
        <p:spPr>
          <a:xfrm>
            <a:off x="-110826" y="358876"/>
            <a:ext cx="6985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II. Chiffre d’affaires par catégorie de produits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26791E7-A16B-8E72-6E32-BF46A33B81C2}"/>
              </a:ext>
            </a:extLst>
          </p:cNvPr>
          <p:cNvSpPr txBox="1"/>
          <p:nvPr/>
        </p:nvSpPr>
        <p:spPr>
          <a:xfrm>
            <a:off x="7572398" y="1583241"/>
            <a:ext cx="42279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 TOTAL CATEGORIE 0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4 419 731 € </a:t>
            </a:r>
            <a:r>
              <a:rPr lang="fr-FR" sz="1600" b="1" dirty="0">
                <a:solidFill>
                  <a:srgbClr val="440154"/>
                </a:solidFill>
              </a:rPr>
              <a:t>(36,7 %)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1106520-F747-29AA-62F6-801F0033E4A1}"/>
              </a:ext>
            </a:extLst>
          </p:cNvPr>
          <p:cNvSpPr txBox="1"/>
          <p:nvPr/>
        </p:nvSpPr>
        <p:spPr>
          <a:xfrm>
            <a:off x="7572399" y="3090446"/>
            <a:ext cx="4227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 TOTAL CATEGORIE 1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4 827 657 € </a:t>
            </a:r>
            <a:r>
              <a:rPr lang="fr-FR" sz="1600" b="1" dirty="0">
                <a:solidFill>
                  <a:srgbClr val="21918C"/>
                </a:solidFill>
              </a:rPr>
              <a:t>(40,1 %)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98B1CD-B7E6-FD3F-1946-D296A54BCE58}"/>
              </a:ext>
            </a:extLst>
          </p:cNvPr>
          <p:cNvSpPr txBox="1"/>
          <p:nvPr/>
        </p:nvSpPr>
        <p:spPr>
          <a:xfrm>
            <a:off x="7572399" y="4665806"/>
            <a:ext cx="42279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 TOTAL CATEGORIE 2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2 780 275 € </a:t>
            </a:r>
            <a:r>
              <a:rPr lang="fr-FR" sz="1600" b="1" dirty="0">
                <a:solidFill>
                  <a:srgbClr val="FDE725"/>
                </a:solidFill>
              </a:rPr>
              <a:t>(23,1 %)</a:t>
            </a:r>
            <a:endParaRPr lang="fr-FR" b="1" dirty="0">
              <a:solidFill>
                <a:srgbClr val="FDE72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768043-D2B5-BB0A-28A8-38E7B6CE9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4" y="1159671"/>
            <a:ext cx="6724025" cy="488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8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3185208-3F6E-2CF8-8FB3-043470AA6427}"/>
              </a:ext>
            </a:extLst>
          </p:cNvPr>
          <p:cNvSpPr txBox="1"/>
          <p:nvPr/>
        </p:nvSpPr>
        <p:spPr>
          <a:xfrm>
            <a:off x="157315" y="218872"/>
            <a:ext cx="9773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III. Evolution du chiffre d’affaires mensuel par catégorie de produits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D8CA90-5DB2-2BD8-50AA-86012FAD7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91" y="670322"/>
            <a:ext cx="11158617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82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90B8697-0F48-BD81-07FD-C3716BF8A2F9}"/>
              </a:ext>
            </a:extLst>
          </p:cNvPr>
          <p:cNvSpPr txBox="1"/>
          <p:nvPr/>
        </p:nvSpPr>
        <p:spPr>
          <a:xfrm>
            <a:off x="157315" y="218872"/>
            <a:ext cx="9773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III. Proportion de produits générant 80 % du chiffre d’affaires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AFA718-A6A1-0661-4E05-8E26A8EF262F}"/>
              </a:ext>
            </a:extLst>
          </p:cNvPr>
          <p:cNvSpPr txBox="1"/>
          <p:nvPr/>
        </p:nvSpPr>
        <p:spPr>
          <a:xfrm>
            <a:off x="7461507" y="2839606"/>
            <a:ext cx="3589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tx2"/>
                </a:solidFill>
              </a:rPr>
              <a:t>+ de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20 %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 produits</a:t>
            </a:r>
          </a:p>
          <a:p>
            <a:pPr algn="ctr"/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  <a:p>
            <a:pPr algn="ctr"/>
            <a:r>
              <a:rPr lang="fr-FR" sz="2400" b="1" dirty="0">
                <a:solidFill>
                  <a:schemeClr val="accent1"/>
                </a:solidFill>
              </a:rPr>
              <a:t>80 %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 chiffre d’affaires</a:t>
            </a:r>
            <a:endParaRPr lang="fr-FR" sz="2400" b="1" dirty="0">
              <a:solidFill>
                <a:srgbClr val="440154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A4381E9-167A-A616-12FA-43C3F287F149}"/>
              </a:ext>
            </a:extLst>
          </p:cNvPr>
          <p:cNvSpPr txBox="1"/>
          <p:nvPr/>
        </p:nvSpPr>
        <p:spPr>
          <a:xfrm>
            <a:off x="7461507" y="1183994"/>
            <a:ext cx="3589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10 %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 produits</a:t>
            </a:r>
          </a:p>
          <a:p>
            <a:pPr algn="ctr"/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  <a:p>
            <a:pPr algn="ctr"/>
            <a:r>
              <a:rPr lang="fr-FR" sz="2400" b="1" dirty="0">
                <a:solidFill>
                  <a:schemeClr val="accent1"/>
                </a:solidFill>
              </a:rPr>
              <a:t>60 %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 chiffre d’affaires</a:t>
            </a:r>
            <a:endParaRPr lang="fr-FR" sz="2400" b="1" dirty="0">
              <a:solidFill>
                <a:srgbClr val="440154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9E4B90-36A4-C1B2-A8EE-40B29F3D0184}"/>
              </a:ext>
            </a:extLst>
          </p:cNvPr>
          <p:cNvSpPr txBox="1"/>
          <p:nvPr/>
        </p:nvSpPr>
        <p:spPr>
          <a:xfrm>
            <a:off x="7461507" y="4345857"/>
            <a:ext cx="3589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tx2"/>
                </a:solidFill>
              </a:rPr>
              <a:t>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40 %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 produits</a:t>
            </a:r>
          </a:p>
          <a:p>
            <a:pPr algn="ctr"/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  <a:p>
            <a:pPr algn="ctr"/>
            <a:r>
              <a:rPr lang="fr-FR" sz="2400" b="1" dirty="0">
                <a:solidFill>
                  <a:schemeClr val="accent1"/>
                </a:solidFill>
              </a:rPr>
              <a:t>+ 90 %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 chiffre d’affaires</a:t>
            </a:r>
            <a:endParaRPr lang="fr-FR" sz="2400" b="1" dirty="0">
              <a:solidFill>
                <a:srgbClr val="440154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B9095B4-6DB2-54EF-DFBA-44722878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66" y="1057193"/>
            <a:ext cx="7171041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10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2859" y="6375156"/>
            <a:ext cx="1132048" cy="360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108F409-3C99-90D8-A03C-9F722BD5D322}"/>
              </a:ext>
            </a:extLst>
          </p:cNvPr>
          <p:cNvSpPr txBox="1"/>
          <p:nvPr/>
        </p:nvSpPr>
        <p:spPr>
          <a:xfrm>
            <a:off x="1468892" y="94564"/>
            <a:ext cx="862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 transactions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7E1802-ABBC-742B-3B7B-C29B74B2FC32}"/>
              </a:ext>
            </a:extLst>
          </p:cNvPr>
          <p:cNvSpPr txBox="1"/>
          <p:nvPr/>
        </p:nvSpPr>
        <p:spPr>
          <a:xfrm>
            <a:off x="168482" y="633989"/>
            <a:ext cx="7288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Evolution du nombre de transactions mensuelles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388034-04BD-E608-FE3E-8DF4B9053C1B}"/>
              </a:ext>
            </a:extLst>
          </p:cNvPr>
          <p:cNvSpPr txBox="1"/>
          <p:nvPr/>
        </p:nvSpPr>
        <p:spPr>
          <a:xfrm>
            <a:off x="536128" y="5279368"/>
            <a:ext cx="4157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DE TRANSACTIONS TOTAL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687 534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FFE922-E7E8-E526-0629-18A893E81F58}"/>
              </a:ext>
            </a:extLst>
          </p:cNvPr>
          <p:cNvSpPr txBox="1"/>
          <p:nvPr/>
        </p:nvSpPr>
        <p:spPr>
          <a:xfrm>
            <a:off x="168481" y="5827262"/>
            <a:ext cx="5610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DE TRANSACTIONS MENSUELLES MOYENNNE 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28 647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251E589-19A5-7532-93D6-13BF9984B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82" y="1080420"/>
            <a:ext cx="11501069" cy="415262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083790B-7F56-F4EB-528E-134CE613FD41}"/>
              </a:ext>
            </a:extLst>
          </p:cNvPr>
          <p:cNvSpPr txBox="1"/>
          <p:nvPr/>
        </p:nvSpPr>
        <p:spPr>
          <a:xfrm>
            <a:off x="6589336" y="5313563"/>
            <a:ext cx="4863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DE TRANSACTIONS MIN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24 738 (07/2021)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25E3031-CCE7-D521-A371-1709A91628E1}"/>
              </a:ext>
            </a:extLst>
          </p:cNvPr>
          <p:cNvSpPr txBox="1"/>
          <p:nvPr/>
        </p:nvSpPr>
        <p:spPr>
          <a:xfrm>
            <a:off x="6508049" y="5827262"/>
            <a:ext cx="486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DE TRANSACTIONS MAX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33 314 (09/2021)</a:t>
            </a:r>
          </a:p>
        </p:txBody>
      </p:sp>
    </p:spTree>
    <p:extLst>
      <p:ext uri="{BB962C8B-B14F-4D97-AF65-F5344CB8AC3E}">
        <p14:creationId xmlns:p14="http://schemas.microsoft.com/office/powerpoint/2010/main" val="2297963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77E1802-ABBC-742B-3B7B-C29B74B2FC32}"/>
              </a:ext>
            </a:extLst>
          </p:cNvPr>
          <p:cNvSpPr txBox="1"/>
          <p:nvPr/>
        </p:nvSpPr>
        <p:spPr>
          <a:xfrm>
            <a:off x="65990" y="707084"/>
            <a:ext cx="8622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I. Evolution mensuelle du nombre de produits différents vendus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388034-04BD-E608-FE3E-8DF4B9053C1B}"/>
              </a:ext>
            </a:extLst>
          </p:cNvPr>
          <p:cNvSpPr txBox="1"/>
          <p:nvPr/>
        </p:nvSpPr>
        <p:spPr>
          <a:xfrm>
            <a:off x="7540471" y="1632483"/>
            <a:ext cx="44997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TOTAL DE PRODUITS DIFFERENTS EN VENTE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endParaRPr lang="fr-FR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3 286 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714379-D98E-BD21-0FCB-0073BE290235}"/>
              </a:ext>
            </a:extLst>
          </p:cNvPr>
          <p:cNvSpPr txBox="1"/>
          <p:nvPr/>
        </p:nvSpPr>
        <p:spPr>
          <a:xfrm>
            <a:off x="7496965" y="2617922"/>
            <a:ext cx="45432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MINIMUM DE PRODUITS DIFFERENTS VENDUS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</a:p>
          <a:p>
            <a:endParaRPr lang="fr-FR" sz="1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2369 EN JUILLET 2021 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3A11384-7BA8-C144-F917-53866C52FC4A}"/>
              </a:ext>
            </a:extLst>
          </p:cNvPr>
          <p:cNvSpPr txBox="1"/>
          <p:nvPr/>
        </p:nvSpPr>
        <p:spPr>
          <a:xfrm>
            <a:off x="7496965" y="3603361"/>
            <a:ext cx="46213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MAXIMUM DE PRODUITS DIFFERENTS VENDUS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endParaRPr lang="fr-FR" sz="1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2560 EN SEPTEMBRE 2021 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5F3895-7EB6-7F50-C9EA-B232197575C0}"/>
              </a:ext>
            </a:extLst>
          </p:cNvPr>
          <p:cNvSpPr txBox="1"/>
          <p:nvPr/>
        </p:nvSpPr>
        <p:spPr>
          <a:xfrm>
            <a:off x="8178615" y="4797531"/>
            <a:ext cx="30176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MOYEN DE PRODUITS DIFFERENTS VENDUS PAR MOIS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fr-FR" sz="1000" b="1" dirty="0">
              <a:solidFill>
                <a:srgbClr val="FF0000"/>
              </a:solidFill>
            </a:endParaRPr>
          </a:p>
          <a:p>
            <a:pPr algn="ctr"/>
            <a:endParaRPr lang="fr-FR" b="1" dirty="0">
              <a:solidFill>
                <a:srgbClr val="FF0000"/>
              </a:solidFill>
            </a:endParaRPr>
          </a:p>
          <a:p>
            <a:pPr algn="ctr"/>
            <a:r>
              <a:rPr lang="fr-FR" b="1" dirty="0">
                <a:solidFill>
                  <a:srgbClr val="FF0000"/>
                </a:solidFill>
              </a:rPr>
              <a:t>2463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63E2BBE-F8B0-6973-DD81-522E2AB06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5719"/>
            <a:ext cx="7258153" cy="48643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0967175-F0A3-6027-A5FB-9B003BDFE3D3}"/>
              </a:ext>
            </a:extLst>
          </p:cNvPr>
          <p:cNvSpPr txBox="1"/>
          <p:nvPr/>
        </p:nvSpPr>
        <p:spPr>
          <a:xfrm>
            <a:off x="1064555" y="130323"/>
            <a:ext cx="862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 produits</a:t>
            </a:r>
          </a:p>
        </p:txBody>
      </p:sp>
    </p:spTree>
    <p:extLst>
      <p:ext uri="{BB962C8B-B14F-4D97-AF65-F5344CB8AC3E}">
        <p14:creationId xmlns:p14="http://schemas.microsoft.com/office/powerpoint/2010/main" val="3341826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77E1802-ABBC-742B-3B7B-C29B74B2FC32}"/>
              </a:ext>
            </a:extLst>
          </p:cNvPr>
          <p:cNvSpPr txBox="1"/>
          <p:nvPr/>
        </p:nvSpPr>
        <p:spPr>
          <a:xfrm>
            <a:off x="424206" y="250967"/>
            <a:ext cx="6608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II. LE TOP 10 DES PRODUITS LES PLUS VENDUS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388034-04BD-E608-FE3E-8DF4B9053C1B}"/>
              </a:ext>
            </a:extLst>
          </p:cNvPr>
          <p:cNvSpPr txBox="1"/>
          <p:nvPr/>
        </p:nvSpPr>
        <p:spPr>
          <a:xfrm>
            <a:off x="7540471" y="1641910"/>
            <a:ext cx="44997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PRODUIT LE PLUS VENDU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ctr"/>
            <a:r>
              <a:rPr lang="fr-FR" sz="1600" b="1" dirty="0">
                <a:solidFill>
                  <a:srgbClr val="440154"/>
                </a:solidFill>
              </a:rPr>
              <a:t>1_369 (2340 VENTES)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 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7714379-D98E-BD21-0FCB-0073BE290235}"/>
              </a:ext>
            </a:extLst>
          </p:cNvPr>
          <p:cNvSpPr txBox="1"/>
          <p:nvPr/>
        </p:nvSpPr>
        <p:spPr>
          <a:xfrm>
            <a:off x="7540471" y="2995056"/>
            <a:ext cx="449972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LES PRODUITS DU TOP 10 :</a:t>
            </a:r>
          </a:p>
          <a:p>
            <a:endParaRPr lang="fr-F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VENTES &gt; 2000</a:t>
            </a:r>
          </a:p>
          <a:p>
            <a:endParaRPr lang="fr-F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TOUS DE CATEGORIE 1</a:t>
            </a:r>
          </a:p>
          <a:p>
            <a:endParaRPr lang="fr-FR" sz="1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3,1 % DES ARTICLES VENDUS</a:t>
            </a:r>
          </a:p>
          <a:p>
            <a:pPr algn="ctr"/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394B8BC-8029-59A4-6226-9DBBE8C15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92" y="817434"/>
            <a:ext cx="6960084" cy="529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01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77E1802-ABBC-742B-3B7B-C29B74B2FC32}"/>
              </a:ext>
            </a:extLst>
          </p:cNvPr>
          <p:cNvSpPr txBox="1"/>
          <p:nvPr/>
        </p:nvSpPr>
        <p:spPr>
          <a:xfrm>
            <a:off x="424206" y="250967"/>
            <a:ext cx="6608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III. LES 10 DES PRODUITS LES MOINS VENDUS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388034-04BD-E608-FE3E-8DF4B9053C1B}"/>
              </a:ext>
            </a:extLst>
          </p:cNvPr>
          <p:cNvSpPr txBox="1"/>
          <p:nvPr/>
        </p:nvSpPr>
        <p:spPr>
          <a:xfrm>
            <a:off x="8330443" y="2216947"/>
            <a:ext cx="37830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PRODUITS LES MOINS VENDUS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algn="ctr"/>
            <a:r>
              <a:rPr lang="fr-FR" sz="1600" b="1" dirty="0">
                <a:solidFill>
                  <a:srgbClr val="440154"/>
                </a:solidFill>
              </a:rPr>
              <a:t>TOUS VENDUS 1 FOIS </a:t>
            </a:r>
          </a:p>
          <a:p>
            <a:pPr algn="ctr"/>
            <a:endParaRPr lang="fr-FR" sz="1600" b="1" dirty="0">
              <a:solidFill>
                <a:srgbClr val="440154"/>
              </a:solidFill>
            </a:endParaRPr>
          </a:p>
          <a:p>
            <a:pPr algn="ctr"/>
            <a:r>
              <a:rPr lang="fr-FR" sz="1600" b="1" dirty="0">
                <a:solidFill>
                  <a:srgbClr val="440154"/>
                </a:solidFill>
              </a:rPr>
              <a:t>CLASSE PAR CHIFFRE D’AFFAIRES GENERE</a:t>
            </a:r>
          </a:p>
          <a:p>
            <a:pPr algn="ctr"/>
            <a:endParaRPr lang="fr-FR" sz="1600" b="1" dirty="0">
              <a:solidFill>
                <a:srgbClr val="440154"/>
              </a:solidFill>
            </a:endParaRPr>
          </a:p>
          <a:p>
            <a:pPr algn="ctr"/>
            <a:r>
              <a:rPr lang="fr-FR" sz="1600" b="1" dirty="0">
                <a:solidFill>
                  <a:srgbClr val="440154"/>
                </a:solidFill>
              </a:rPr>
              <a:t>TOUS DE CATEGORIE 0</a:t>
            </a:r>
          </a:p>
          <a:p>
            <a:pPr algn="ctr"/>
            <a:endParaRPr lang="fr-FR" sz="1600" b="1" dirty="0">
              <a:solidFill>
                <a:srgbClr val="440154"/>
              </a:solidFill>
            </a:endParaRPr>
          </a:p>
          <a:p>
            <a:pPr algn="ctr"/>
            <a:endParaRPr lang="fr-FR" sz="1600" b="1" dirty="0">
              <a:solidFill>
                <a:srgbClr val="440154"/>
              </a:solidFill>
            </a:endParaRPr>
          </a:p>
          <a:p>
            <a:pPr algn="ctr"/>
            <a:endParaRPr lang="fr-FR" sz="1600" b="1" dirty="0">
              <a:solidFill>
                <a:srgbClr val="440154"/>
              </a:solidFill>
            </a:endParaRPr>
          </a:p>
          <a:p>
            <a:pPr algn="ctr"/>
            <a:endParaRPr lang="fr-FR" sz="1600" b="1" dirty="0">
              <a:solidFill>
                <a:srgbClr val="440154"/>
              </a:solidFill>
            </a:endParaRPr>
          </a:p>
          <a:p>
            <a:pPr algn="ctr"/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B918DB6-D589-B3C0-4817-FC1709A84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" y="1168924"/>
            <a:ext cx="8255028" cy="477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76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77E1802-ABBC-742B-3B7B-C29B74B2FC32}"/>
              </a:ext>
            </a:extLst>
          </p:cNvPr>
          <p:cNvSpPr txBox="1"/>
          <p:nvPr/>
        </p:nvSpPr>
        <p:spPr>
          <a:xfrm>
            <a:off x="67558" y="280872"/>
            <a:ext cx="5147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IV. LES PRODUITS PAR CATEGORIES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52EF823-8DB3-BE89-C81A-75E9F1096EBF}"/>
              </a:ext>
            </a:extLst>
          </p:cNvPr>
          <p:cNvSpPr txBox="1"/>
          <p:nvPr/>
        </p:nvSpPr>
        <p:spPr>
          <a:xfrm>
            <a:off x="7307577" y="1901759"/>
            <a:ext cx="4833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PRODUITS CATEG 0 VENDUS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415 459 </a:t>
            </a:r>
            <a:r>
              <a:rPr lang="fr-FR" sz="1600" b="1" dirty="0">
                <a:solidFill>
                  <a:srgbClr val="440154"/>
                </a:solidFill>
              </a:rPr>
              <a:t>(60,4 %)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E9A55BA-1712-B786-2021-ABDAD35C4032}"/>
              </a:ext>
            </a:extLst>
          </p:cNvPr>
          <p:cNvSpPr txBox="1"/>
          <p:nvPr/>
        </p:nvSpPr>
        <p:spPr>
          <a:xfrm>
            <a:off x="7307577" y="3259723"/>
            <a:ext cx="4833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PRODUITS CATEG 1 VENDUS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235 592 </a:t>
            </a:r>
            <a:r>
              <a:rPr lang="fr-FR" sz="1600" b="1" dirty="0">
                <a:solidFill>
                  <a:srgbClr val="21918C"/>
                </a:solidFill>
              </a:rPr>
              <a:t>(34,3 %)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B9E007A-3691-1EEA-34CF-20554B6671BB}"/>
              </a:ext>
            </a:extLst>
          </p:cNvPr>
          <p:cNvSpPr txBox="1"/>
          <p:nvPr/>
        </p:nvSpPr>
        <p:spPr>
          <a:xfrm>
            <a:off x="7307577" y="4956241"/>
            <a:ext cx="4833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PRODUITS CATEG 2 VENDUS </a:t>
            </a:r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</a:rPr>
              <a:t>36 483 </a:t>
            </a:r>
            <a:r>
              <a:rPr lang="fr-FR" sz="1600" b="1" dirty="0">
                <a:solidFill>
                  <a:srgbClr val="FDE725"/>
                </a:solidFill>
              </a:rPr>
              <a:t>(5,3 %)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8F228BE-3C63-E992-DEDB-6B6A3914F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8" y="1293027"/>
            <a:ext cx="5738357" cy="461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34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108F409-3C99-90D8-A03C-9F722BD5D322}"/>
              </a:ext>
            </a:extLst>
          </p:cNvPr>
          <p:cNvSpPr txBox="1"/>
          <p:nvPr/>
        </p:nvSpPr>
        <p:spPr>
          <a:xfrm>
            <a:off x="1497173" y="200210"/>
            <a:ext cx="862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clients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7E1802-ABBC-742B-3B7B-C29B74B2FC32}"/>
              </a:ext>
            </a:extLst>
          </p:cNvPr>
          <p:cNvSpPr txBox="1"/>
          <p:nvPr/>
        </p:nvSpPr>
        <p:spPr>
          <a:xfrm>
            <a:off x="168482" y="756483"/>
            <a:ext cx="6605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I. Evolution du nombre de clients différents 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301F5E1-70B5-D20B-100E-8158740F6B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74"/>
          <a:stretch/>
        </p:blipFill>
        <p:spPr>
          <a:xfrm>
            <a:off x="98840" y="1215570"/>
            <a:ext cx="5905184" cy="396336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8388034-04BD-E608-FE3E-8DF4B9053C1B}"/>
              </a:ext>
            </a:extLst>
          </p:cNvPr>
          <p:cNvSpPr txBox="1"/>
          <p:nvPr/>
        </p:nvSpPr>
        <p:spPr>
          <a:xfrm>
            <a:off x="235545" y="5348082"/>
            <a:ext cx="3538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DE CLIENTS DIFFERENTS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8621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E747B62-5CE9-D1B8-5BA2-BCB57C10C700}"/>
              </a:ext>
            </a:extLst>
          </p:cNvPr>
          <p:cNvSpPr txBox="1"/>
          <p:nvPr/>
        </p:nvSpPr>
        <p:spPr>
          <a:xfrm>
            <a:off x="237932" y="5788842"/>
            <a:ext cx="5447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DE CLIENTS DIFFERENTS MEDIAN MENSUEL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rgbClr val="FF0000"/>
                </a:solidFill>
              </a:rPr>
              <a:t>5744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48B7188-C3A6-145B-C950-22732A91F9CE}"/>
              </a:ext>
            </a:extLst>
          </p:cNvPr>
          <p:cNvSpPr txBox="1"/>
          <p:nvPr/>
        </p:nvSpPr>
        <p:spPr>
          <a:xfrm>
            <a:off x="6506997" y="5766940"/>
            <a:ext cx="5182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DE CLIENTS DIFFERENTS MAX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6190 </a:t>
            </a:r>
            <a:r>
              <a:rPr lang="fr-FR" b="1" dirty="0">
                <a:solidFill>
                  <a:srgbClr val="440154"/>
                </a:solidFill>
              </a:rPr>
              <a:t>(sept 2021)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EA18A7B-7779-DE35-A87A-36E1B7B98285}"/>
              </a:ext>
            </a:extLst>
          </p:cNvPr>
          <p:cNvSpPr txBox="1"/>
          <p:nvPr/>
        </p:nvSpPr>
        <p:spPr>
          <a:xfrm>
            <a:off x="6506997" y="5276654"/>
            <a:ext cx="5182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NB DE CLIENTS DIFFERENTS MIN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5587 </a:t>
            </a:r>
            <a:r>
              <a:rPr lang="fr-FR" b="1" dirty="0">
                <a:solidFill>
                  <a:srgbClr val="440154"/>
                </a:solidFill>
              </a:rPr>
              <a:t>(</a:t>
            </a:r>
            <a:r>
              <a:rPr lang="fr-FR" b="1" dirty="0" err="1">
                <a:solidFill>
                  <a:srgbClr val="440154"/>
                </a:solidFill>
              </a:rPr>
              <a:t>fév</a:t>
            </a:r>
            <a:r>
              <a:rPr lang="fr-FR" b="1" dirty="0">
                <a:solidFill>
                  <a:srgbClr val="440154"/>
                </a:solidFill>
              </a:rPr>
              <a:t> 2023)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F4D3A7C-53EB-9E22-04B4-DFAED9C85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024" y="1189646"/>
            <a:ext cx="6187976" cy="396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8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F493588-C9A6-6D79-F736-0944CD974D26}"/>
              </a:ext>
            </a:extLst>
          </p:cNvPr>
          <p:cNvSpPr txBox="1"/>
          <p:nvPr/>
        </p:nvSpPr>
        <p:spPr>
          <a:xfrm>
            <a:off x="0" y="461515"/>
            <a:ext cx="8877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II. TOP 10 des clients ayant généré le plus de chiffre d’affaires 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1FAB88A-20A6-F59D-E3D9-48CAB10367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23" r="1324"/>
          <a:stretch/>
        </p:blipFill>
        <p:spPr>
          <a:xfrm>
            <a:off x="255638" y="1045634"/>
            <a:ext cx="8505811" cy="504948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B654FAF-B7EA-3C6F-F64C-7D3BD09D1E4D}"/>
              </a:ext>
            </a:extLst>
          </p:cNvPr>
          <p:cNvSpPr txBox="1"/>
          <p:nvPr/>
        </p:nvSpPr>
        <p:spPr>
          <a:xfrm>
            <a:off x="8761447" y="1482949"/>
            <a:ext cx="3538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CLIENT TOP 1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326 039 €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43DFC4-427F-7315-ABFD-469B38FFD94D}"/>
              </a:ext>
            </a:extLst>
          </p:cNvPr>
          <p:cNvSpPr txBox="1"/>
          <p:nvPr/>
        </p:nvSpPr>
        <p:spPr>
          <a:xfrm>
            <a:off x="8877195" y="2745255"/>
            <a:ext cx="3538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CLIENTS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+ 100 000 €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0FF0B54-78EB-15C8-0B54-69042EB52B22}"/>
              </a:ext>
            </a:extLst>
          </p:cNvPr>
          <p:cNvSpPr txBox="1"/>
          <p:nvPr/>
        </p:nvSpPr>
        <p:spPr>
          <a:xfrm>
            <a:off x="8879436" y="2146430"/>
            <a:ext cx="331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CLIENTS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&gt;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5000 €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080AC96-418C-042E-5A48-0DF15494DA22}"/>
              </a:ext>
            </a:extLst>
          </p:cNvPr>
          <p:cNvSpPr txBox="1"/>
          <p:nvPr/>
        </p:nvSpPr>
        <p:spPr>
          <a:xfrm>
            <a:off x="8761447" y="4460351"/>
            <a:ext cx="331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 TOP 4  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96,6 %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 TOP 10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B978A29-F2AD-9BD7-DA7F-1A367E6AC2D7}"/>
              </a:ext>
            </a:extLst>
          </p:cNvPr>
          <p:cNvSpPr txBox="1"/>
          <p:nvPr/>
        </p:nvSpPr>
        <p:spPr>
          <a:xfrm>
            <a:off x="8761448" y="5098296"/>
            <a:ext cx="331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 TOP 4  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fr-FR" b="1" dirty="0">
                <a:solidFill>
                  <a:srgbClr val="FF0000"/>
                </a:solidFill>
              </a:rPr>
              <a:t>7,4 %  </a:t>
            </a:r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 TOTAL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27E39C5-2399-C885-BA40-426F68A4ECAC}"/>
              </a:ext>
            </a:extLst>
          </p:cNvPr>
          <p:cNvSpPr txBox="1"/>
          <p:nvPr/>
        </p:nvSpPr>
        <p:spPr>
          <a:xfrm>
            <a:off x="8997119" y="3552608"/>
            <a:ext cx="2305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 TOP 10  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915 625€ </a:t>
            </a:r>
          </a:p>
          <a:p>
            <a:pPr algn="ctr"/>
            <a:r>
              <a:rPr lang="fr-FR" b="1" dirty="0">
                <a:solidFill>
                  <a:srgbClr val="FF0000"/>
                </a:solidFill>
              </a:rPr>
              <a:t>7,6 %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 TOTAL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487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76001" y="6279128"/>
            <a:ext cx="1132048" cy="360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90B8697-0F48-BD81-07FD-C3716BF8A2F9}"/>
              </a:ext>
            </a:extLst>
          </p:cNvPr>
          <p:cNvSpPr txBox="1"/>
          <p:nvPr/>
        </p:nvSpPr>
        <p:spPr>
          <a:xfrm>
            <a:off x="157315" y="218872"/>
            <a:ext cx="9773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III. Proportion de clients générant 80 % du chiffre d’affaires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7AFA718-A6A1-0661-4E05-8E26A8EF262F}"/>
              </a:ext>
            </a:extLst>
          </p:cNvPr>
          <p:cNvSpPr txBox="1"/>
          <p:nvPr/>
        </p:nvSpPr>
        <p:spPr>
          <a:xfrm>
            <a:off x="7461504" y="1375546"/>
            <a:ext cx="3589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tx2"/>
                </a:solidFill>
              </a:rPr>
              <a:t>8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 clients</a:t>
            </a:r>
          </a:p>
          <a:p>
            <a:pPr algn="ctr"/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  <a:p>
            <a:pPr algn="ctr"/>
            <a:r>
              <a:rPr lang="fr-FR" sz="2400" b="1" dirty="0">
                <a:solidFill>
                  <a:schemeClr val="accent1"/>
                </a:solidFill>
              </a:rPr>
              <a:t>50 %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 chiffre d’affaires</a:t>
            </a:r>
            <a:endParaRPr lang="fr-FR" sz="2400" b="1" dirty="0">
              <a:solidFill>
                <a:srgbClr val="440154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9E4B90-36A4-C1B2-A8EE-40B29F3D0184}"/>
              </a:ext>
            </a:extLst>
          </p:cNvPr>
          <p:cNvSpPr txBox="1"/>
          <p:nvPr/>
        </p:nvSpPr>
        <p:spPr>
          <a:xfrm>
            <a:off x="7461504" y="2861013"/>
            <a:ext cx="3589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tx2"/>
                </a:solidFill>
              </a:rPr>
              <a:t> 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99 %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 clients</a:t>
            </a:r>
          </a:p>
          <a:p>
            <a:pPr algn="ctr"/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  <a:p>
            <a:pPr algn="ctr"/>
            <a:r>
              <a:rPr lang="fr-FR" sz="2400" b="1" dirty="0">
                <a:solidFill>
                  <a:schemeClr val="accent1"/>
                </a:solidFill>
              </a:rPr>
              <a:t>90 %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 chiffre d’affaires</a:t>
            </a:r>
            <a:endParaRPr lang="fr-FR" sz="2400" b="1" dirty="0">
              <a:solidFill>
                <a:srgbClr val="440154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5310C70-85F3-0274-0D40-EC943E1E5E29}"/>
              </a:ext>
            </a:extLst>
          </p:cNvPr>
          <p:cNvSpPr txBox="1"/>
          <p:nvPr/>
        </p:nvSpPr>
        <p:spPr>
          <a:xfrm>
            <a:off x="7668894" y="4346480"/>
            <a:ext cx="35899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1 %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 clients</a:t>
            </a:r>
          </a:p>
          <a:p>
            <a:pPr algn="ctr"/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</a:p>
          <a:p>
            <a:pPr algn="ctr"/>
            <a:r>
              <a:rPr lang="fr-FR" sz="2400" b="1" dirty="0">
                <a:solidFill>
                  <a:schemeClr val="accent1"/>
                </a:solidFill>
              </a:rPr>
              <a:t>10 % </a:t>
            </a:r>
            <a:r>
              <a:rPr lang="fr-F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 chiffre d’affaires</a:t>
            </a:r>
            <a:endParaRPr lang="fr-FR" sz="2400" b="1" dirty="0">
              <a:solidFill>
                <a:srgbClr val="440154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906C083-87CD-81C1-C827-BFEFD0271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5" y="934929"/>
            <a:ext cx="7148179" cy="505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27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43984" y="6395514"/>
            <a:ext cx="904032" cy="28748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34F79E4-61C0-CC08-20D4-F2F22F68CB07}"/>
              </a:ext>
            </a:extLst>
          </p:cNvPr>
          <p:cNvSpPr txBox="1"/>
          <p:nvPr/>
        </p:nvSpPr>
        <p:spPr>
          <a:xfrm>
            <a:off x="-716421" y="272562"/>
            <a:ext cx="8877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IV. TOP 10 des clients ayant acheté le plus d’articles </a:t>
            </a:r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CF1979-9856-BC4D-2400-D957175E8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2" y="1019728"/>
            <a:ext cx="8288593" cy="52594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C468E47-2202-3886-A9B6-E6276C31D3A6}"/>
              </a:ext>
            </a:extLst>
          </p:cNvPr>
          <p:cNvSpPr txBox="1"/>
          <p:nvPr/>
        </p:nvSpPr>
        <p:spPr>
          <a:xfrm>
            <a:off x="8426236" y="3637663"/>
            <a:ext cx="3538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CLIENTS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+ 5000 articles achetés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EBCEC50-C526-05F4-F624-1B4E49DBCDE0}"/>
              </a:ext>
            </a:extLst>
          </p:cNvPr>
          <p:cNvSpPr txBox="1"/>
          <p:nvPr/>
        </p:nvSpPr>
        <p:spPr>
          <a:xfrm>
            <a:off x="8426240" y="1365611"/>
            <a:ext cx="3538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CLIENT TOP 1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25586 articles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45F11ED-B790-8359-26BC-08D9A4C0E3BB}"/>
              </a:ext>
            </a:extLst>
          </p:cNvPr>
          <p:cNvSpPr txBox="1"/>
          <p:nvPr/>
        </p:nvSpPr>
        <p:spPr>
          <a:xfrm>
            <a:off x="8426240" y="1855157"/>
            <a:ext cx="3538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CLIENTS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380 articles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D6832B-1CE6-BFFC-0C69-A1F77C199F5C}"/>
              </a:ext>
            </a:extLst>
          </p:cNvPr>
          <p:cNvSpPr txBox="1"/>
          <p:nvPr/>
        </p:nvSpPr>
        <p:spPr>
          <a:xfrm>
            <a:off x="8426236" y="4420912"/>
            <a:ext cx="3696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 TOP 4  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=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95,2%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TOP 10 ARTICLES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90DD45-F52C-F854-CF44-1D006BCFDAEE}"/>
              </a:ext>
            </a:extLst>
          </p:cNvPr>
          <p:cNvSpPr txBox="1"/>
          <p:nvPr/>
        </p:nvSpPr>
        <p:spPr>
          <a:xfrm>
            <a:off x="8293510" y="5233007"/>
            <a:ext cx="3538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 TOP 4  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= 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46800 articles</a:t>
            </a:r>
          </a:p>
          <a:p>
            <a:pPr algn="ctr"/>
            <a:r>
              <a:rPr lang="fr-FR" b="1" dirty="0">
                <a:solidFill>
                  <a:srgbClr val="FF0000"/>
                </a:solidFill>
              </a:rPr>
              <a:t>6,8%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TOTAL ARTICLES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BA00F54-7388-B16E-7AEA-D89F7827E869}"/>
              </a:ext>
            </a:extLst>
          </p:cNvPr>
          <p:cNvSpPr txBox="1"/>
          <p:nvPr/>
        </p:nvSpPr>
        <p:spPr>
          <a:xfrm>
            <a:off x="8160774" y="2677420"/>
            <a:ext cx="35387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 TOP 10  </a:t>
            </a: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= 49 157</a:t>
            </a:r>
          </a:p>
          <a:p>
            <a:pPr algn="ctr"/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     </a:t>
            </a:r>
            <a:r>
              <a:rPr lang="fr-FR" b="1" dirty="0">
                <a:solidFill>
                  <a:srgbClr val="FF0000"/>
                </a:solidFill>
              </a:rPr>
              <a:t>7,15%  </a:t>
            </a:r>
            <a:r>
              <a:rPr lang="fr-F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ARTICLES</a:t>
            </a:r>
            <a:endParaRPr lang="fr-FR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658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C193C2A-F93C-60A2-2A32-673211D6B666}"/>
              </a:ext>
            </a:extLst>
          </p:cNvPr>
          <p:cNvSpPr txBox="1"/>
          <p:nvPr/>
        </p:nvSpPr>
        <p:spPr>
          <a:xfrm>
            <a:off x="1173929" y="1778553"/>
            <a:ext cx="968334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Verdana" panose="020B0604030504040204" pitchFamily="34" charset="0"/>
                <a:ea typeface="Verdana" panose="020B0604030504040204" pitchFamily="34" charset="0"/>
              </a:rPr>
              <a:t>I. Lien entre genre des clients et catégories de livres achetés </a:t>
            </a:r>
            <a:r>
              <a:rPr lang="fr-FR" sz="1600" b="1" i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Slides 17 et 18</a:t>
            </a:r>
          </a:p>
          <a:p>
            <a:endParaRPr lang="fr-FR" sz="1600" b="1" i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600" b="1" dirty="0">
                <a:latin typeface="Verdana" panose="020B0604030504040204" pitchFamily="34" charset="0"/>
                <a:ea typeface="Verdana" panose="020B0604030504040204" pitchFamily="34" charset="0"/>
              </a:rPr>
              <a:t>II. Lien entre l’âge des clients et le montant total des achats </a:t>
            </a:r>
            <a:r>
              <a:rPr lang="fr-FR" sz="1600" b="1" i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Slides 19 à 20</a:t>
            </a:r>
          </a:p>
          <a:p>
            <a:endParaRPr lang="fr-FR" sz="1600" b="1" i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600" b="1" dirty="0">
                <a:latin typeface="Verdana" panose="020B0604030504040204" pitchFamily="34" charset="0"/>
                <a:ea typeface="Verdana" panose="020B0604030504040204" pitchFamily="34" charset="0"/>
              </a:rPr>
              <a:t>III. Lien entre l’âge  des clients et la fréquence d’achat </a:t>
            </a:r>
            <a:r>
              <a:rPr lang="fr-FR" sz="1600" b="1" i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Slides 21 à 23</a:t>
            </a:r>
          </a:p>
          <a:p>
            <a:endParaRPr lang="fr-FR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600" b="1" dirty="0">
                <a:latin typeface="Verdana" panose="020B0604030504040204" pitchFamily="34" charset="0"/>
                <a:ea typeface="Verdana" panose="020B0604030504040204" pitchFamily="34" charset="0"/>
              </a:rPr>
              <a:t>IV. Lien entre l’âge des clients et la taille du panier moyen </a:t>
            </a:r>
            <a:r>
              <a:rPr lang="fr-FR" sz="1600" b="1" i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Slides 24 à 25</a:t>
            </a:r>
          </a:p>
          <a:p>
            <a:endParaRPr lang="fr-FR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600" b="1" dirty="0">
                <a:latin typeface="Verdana" panose="020B0604030504040204" pitchFamily="34" charset="0"/>
                <a:ea typeface="Verdana" panose="020B0604030504040204" pitchFamily="34" charset="0"/>
              </a:rPr>
              <a:t>V. Lien entre l’âge des clients et la catégorie de livres achetés </a:t>
            </a:r>
            <a:r>
              <a:rPr lang="fr-FR" sz="1600" b="1" i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Slides 26 à 28</a:t>
            </a:r>
          </a:p>
          <a:p>
            <a:endParaRPr lang="fr-FR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fr-FR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6C4BA7-B650-BF18-04C3-F97B3A4AC886}"/>
              </a:ext>
            </a:extLst>
          </p:cNvPr>
          <p:cNvSpPr txBox="1"/>
          <p:nvPr/>
        </p:nvSpPr>
        <p:spPr>
          <a:xfrm>
            <a:off x="334296" y="597538"/>
            <a:ext cx="10522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Verdana" panose="020B0604030504040204" pitchFamily="34" charset="0"/>
                <a:ea typeface="Verdana" panose="020B0604030504040204" pitchFamily="34" charset="0"/>
              </a:rPr>
              <a:t>ANALYSES DES COMPORTEMENTS CLIENTS</a:t>
            </a:r>
          </a:p>
        </p:txBody>
      </p:sp>
    </p:spTree>
    <p:extLst>
      <p:ext uri="{BB962C8B-B14F-4D97-AF65-F5344CB8AC3E}">
        <p14:creationId xmlns:p14="http://schemas.microsoft.com/office/powerpoint/2010/main" val="3532269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2CE4A2-20F4-57EC-B8AE-E9BD8BC14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901178" y="6462668"/>
            <a:ext cx="993369" cy="31589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73D0312-E2A7-E118-0E55-43B750667E3F}"/>
              </a:ext>
            </a:extLst>
          </p:cNvPr>
          <p:cNvSpPr txBox="1"/>
          <p:nvPr/>
        </p:nvSpPr>
        <p:spPr>
          <a:xfrm>
            <a:off x="1137502" y="93920"/>
            <a:ext cx="10821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Le genre des clients et les catégories de livres achetés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6471972-9515-3F32-8D92-59764B6F9894}"/>
              </a:ext>
            </a:extLst>
          </p:cNvPr>
          <p:cNvSpPr txBox="1"/>
          <p:nvPr/>
        </p:nvSpPr>
        <p:spPr>
          <a:xfrm>
            <a:off x="147685" y="739265"/>
            <a:ext cx="9693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Objectif : Définir si le genre des clients et la catégorie  du livre acheté sont liés.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7EA4B71-A031-B77E-43BE-229C1ADD35D2}"/>
              </a:ext>
            </a:extLst>
          </p:cNvPr>
          <p:cNvSpPr txBox="1"/>
          <p:nvPr/>
        </p:nvSpPr>
        <p:spPr>
          <a:xfrm>
            <a:off x="228771" y="1129234"/>
            <a:ext cx="11564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Les transactions en fonction du genre des clients et par catégorie de livre acheté </a:t>
            </a:r>
            <a:endParaRPr lang="fr-FR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EFDFA81-571A-3E73-B7C3-F9F01926FFDE}"/>
              </a:ext>
            </a:extLst>
          </p:cNvPr>
          <p:cNvSpPr txBox="1"/>
          <p:nvPr/>
        </p:nvSpPr>
        <p:spPr>
          <a:xfrm>
            <a:off x="5375905" y="2167116"/>
            <a:ext cx="538950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400" b="1" u="sng" dirty="0">
                <a:latin typeface="Verdana" panose="020B0604030504040204" pitchFamily="34" charset="0"/>
                <a:ea typeface="Verdana" panose="020B0604030504040204" pitchFamily="34" charset="0"/>
              </a:rPr>
              <a:t>Tests utilisés :</a:t>
            </a:r>
          </a:p>
          <a:p>
            <a:endParaRPr lang="fr-FR" sz="14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Test du chi Carré (indépendance ou non des 2 variables)</a:t>
            </a:r>
          </a:p>
          <a:p>
            <a:endParaRPr lang="fr-FR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V de Cramer (force du lien)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DACBEB-49B6-3EED-EDDF-E1734C752AC4}"/>
              </a:ext>
            </a:extLst>
          </p:cNvPr>
          <p:cNvSpPr txBox="1"/>
          <p:nvPr/>
        </p:nvSpPr>
        <p:spPr>
          <a:xfrm>
            <a:off x="5234505" y="4299502"/>
            <a:ext cx="57854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 test du Chi² montre une relation statistiquement significative et non due au hasard, mais le V de Cramer est très faible : en pratique, l’effet du genre est presque nul.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239AEE0-AD2E-2D93-2C71-3306C1AD3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70" y="1713023"/>
            <a:ext cx="4814569" cy="448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22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EAFB500-5643-F7BE-B92F-1A8D4771D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0" y="1034897"/>
            <a:ext cx="6004250" cy="515918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F4EC27B-E155-5C4A-E123-A7DC08091621}"/>
              </a:ext>
            </a:extLst>
          </p:cNvPr>
          <p:cNvSpPr txBox="1"/>
          <p:nvPr/>
        </p:nvSpPr>
        <p:spPr>
          <a:xfrm>
            <a:off x="6200966" y="1328424"/>
            <a:ext cx="576920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Informations :</a:t>
            </a:r>
          </a:p>
          <a:p>
            <a:pPr algn="l"/>
            <a:endParaRPr lang="fr-FR" sz="10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Bleu = valeur négative =</a:t>
            </a:r>
            <a:r>
              <a:rPr lang="fr-FR" sz="1200" b="0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r>
              <a:rPr lang="fr-FR" sz="1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moins de clients que prévu</a:t>
            </a:r>
          </a:p>
          <a:p>
            <a:pPr algn="l"/>
            <a:r>
              <a:rPr lang="fr-FR" sz="1200" b="1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Rouge = valeur positive =</a:t>
            </a:r>
            <a:r>
              <a:rPr lang="fr-FR" sz="12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r>
              <a:rPr lang="fr-FR" sz="1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plus de clients que prévu</a:t>
            </a:r>
          </a:p>
          <a:p>
            <a:pPr algn="l"/>
            <a:endParaRPr lang="fr-FR" sz="1600" b="0" i="1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chemeClr val="accent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Plus la valeur est forte, plus la différence est significative.</a:t>
            </a:r>
          </a:p>
          <a:p>
            <a:pPr algn="l"/>
            <a:endParaRPr lang="fr-FR" sz="1200" b="1" i="1" dirty="0">
              <a:solidFill>
                <a:schemeClr val="accent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200" b="1" i="0" dirty="0">
              <a:solidFill>
                <a:schemeClr val="accent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Interprétations :</a:t>
            </a:r>
            <a:endParaRPr lang="fr-FR" sz="12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0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Les femmes achètent un peu plus de livres de la catégorie 1</a:t>
            </a:r>
          </a:p>
          <a:p>
            <a:pPr algn="l"/>
            <a:endParaRPr lang="fr-FR" sz="1200" b="1" i="0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hommes préfèrent légèrement la catégorie 0</a:t>
            </a:r>
          </a:p>
          <a:p>
            <a:pPr algn="l"/>
            <a:endParaRPr lang="fr-FR" sz="1400" b="1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 catégorie 2 est équilibrée entre les deux genres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fr-FR" sz="1200" b="1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Conclusion :</a:t>
            </a:r>
          </a:p>
          <a:p>
            <a:pPr algn="l"/>
            <a:endParaRPr lang="fr-FR" sz="1200" b="1" i="0" u="sng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 genre des clients influence très peu le type de livre acheté.</a:t>
            </a:r>
            <a:endParaRPr lang="fr-FR" sz="1200" b="1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000" b="0" i="1" u="sng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0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000" b="0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6A5E392-94B3-6A21-7808-678F22663DFB}"/>
              </a:ext>
            </a:extLst>
          </p:cNvPr>
          <p:cNvSpPr txBox="1"/>
          <p:nvPr/>
        </p:nvSpPr>
        <p:spPr>
          <a:xfrm>
            <a:off x="178087" y="351772"/>
            <a:ext cx="10913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Les résidus standardisés : différences entre effectifs observés et effectifs attendus  </a:t>
            </a:r>
          </a:p>
        </p:txBody>
      </p:sp>
    </p:spTree>
    <p:extLst>
      <p:ext uri="{BB962C8B-B14F-4D97-AF65-F5344CB8AC3E}">
        <p14:creationId xmlns:p14="http://schemas.microsoft.com/office/powerpoint/2010/main" val="368956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354010" y="6437537"/>
            <a:ext cx="1132048" cy="36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CE50000-6D1D-539F-594E-6C6532A067E4}"/>
              </a:ext>
            </a:extLst>
          </p:cNvPr>
          <p:cNvSpPr txBox="1"/>
          <p:nvPr/>
        </p:nvSpPr>
        <p:spPr>
          <a:xfrm>
            <a:off x="1810168" y="153380"/>
            <a:ext cx="10821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L’âge des clients et le montant total de leurs achats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A882DBF-D6FE-BA87-C6B6-1DD77AB89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23" y="1831781"/>
            <a:ext cx="11081858" cy="319443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4EFE1A4-8AAC-2356-20E5-0605EDB99F0E}"/>
              </a:ext>
            </a:extLst>
          </p:cNvPr>
          <p:cNvSpPr txBox="1"/>
          <p:nvPr/>
        </p:nvSpPr>
        <p:spPr>
          <a:xfrm>
            <a:off x="0" y="777292"/>
            <a:ext cx="10821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Objectif: Définir si un lien existe entre l’âge des clients et leurs montants totaux d’achats</a:t>
            </a:r>
            <a:endParaRPr lang="fr-FR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21D9E3-CF5E-BB5D-19CE-38F17A8CCF3F}"/>
              </a:ext>
            </a:extLst>
          </p:cNvPr>
          <p:cNvSpPr txBox="1"/>
          <p:nvPr/>
        </p:nvSpPr>
        <p:spPr>
          <a:xfrm>
            <a:off x="447123" y="1370426"/>
            <a:ext cx="4474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L’âge des clients (Quantitative)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730C5DC-7493-6995-DCFC-3840C8D2E2B8}"/>
              </a:ext>
            </a:extLst>
          </p:cNvPr>
          <p:cNvSpPr txBox="1"/>
          <p:nvPr/>
        </p:nvSpPr>
        <p:spPr>
          <a:xfrm>
            <a:off x="6269784" y="1370425"/>
            <a:ext cx="5922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Le montant total des achats (Quantitative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BD23746-3D5B-0A61-C61A-F1CFF0A155CC}"/>
              </a:ext>
            </a:extLst>
          </p:cNvPr>
          <p:cNvSpPr txBox="1"/>
          <p:nvPr/>
        </p:nvSpPr>
        <p:spPr>
          <a:xfrm>
            <a:off x="447123" y="5323734"/>
            <a:ext cx="116584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Vérification de normalité : Test de Shapiro-</a:t>
            </a:r>
            <a:r>
              <a:rPr lang="fr-FR" sz="1400" b="1" dirty="0" err="1">
                <a:latin typeface="Verdana" panose="020B0604030504040204" pitchFamily="34" charset="0"/>
                <a:ea typeface="Verdana" panose="020B0604030504040204" pitchFamily="34" charset="0"/>
              </a:rPr>
              <a:t>Wilk</a:t>
            </a:r>
            <a:endParaRPr lang="fr-FR" sz="1400" b="1" i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0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1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analyses suivantes ont été réalisées avec des méthodes statistiques non-paramétriques car le test de Shapiro-</a:t>
            </a:r>
            <a:r>
              <a:rPr lang="fr-FR" sz="1100" b="1" dirty="0" err="1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Wilk</a:t>
            </a:r>
            <a:r>
              <a:rPr lang="fr-FR" sz="11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définit que la distribution des données ne respecte pas la loi normale.  </a:t>
            </a:r>
          </a:p>
        </p:txBody>
      </p:sp>
    </p:spTree>
    <p:extLst>
      <p:ext uri="{BB962C8B-B14F-4D97-AF65-F5344CB8AC3E}">
        <p14:creationId xmlns:p14="http://schemas.microsoft.com/office/powerpoint/2010/main" val="1725183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24DC876-8468-EA37-FE72-4580AD43A8F6}"/>
              </a:ext>
            </a:extLst>
          </p:cNvPr>
          <p:cNvSpPr txBox="1"/>
          <p:nvPr/>
        </p:nvSpPr>
        <p:spPr>
          <a:xfrm>
            <a:off x="262078" y="305606"/>
            <a:ext cx="9720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Représentation du montant total d’achat en fonction de l’âge des clients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1971320-C823-84B2-57F7-F51198235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1" y="785211"/>
            <a:ext cx="6504912" cy="375524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58BF4892-F54A-3B46-9D7C-3D3C1DD8952C}"/>
              </a:ext>
            </a:extLst>
          </p:cNvPr>
          <p:cNvSpPr txBox="1"/>
          <p:nvPr/>
        </p:nvSpPr>
        <p:spPr>
          <a:xfrm>
            <a:off x="6766990" y="1018469"/>
            <a:ext cx="518619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Observations :</a:t>
            </a:r>
          </a:p>
          <a:p>
            <a:pPr algn="l"/>
            <a:endParaRPr lang="fr-FR" sz="1200" b="1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Plus l’âge des clients est élevé, plus le montant total moyen des achats a tendance à baisser </a:t>
            </a:r>
            <a:r>
              <a:rPr lang="fr-FR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(Ligne rouge)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fr-FR" sz="1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Beaucoup d’achats dont les montant se situent entre 0 et 2000 € pour des clients âgés de 18 à 60 ans.</a:t>
            </a:r>
          </a:p>
          <a:p>
            <a:pPr algn="l"/>
            <a:endParaRPr lang="fr-FR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27AE32C-692C-3B6E-84E2-3D785240D078}"/>
              </a:ext>
            </a:extLst>
          </p:cNvPr>
          <p:cNvSpPr txBox="1"/>
          <p:nvPr/>
        </p:nvSpPr>
        <p:spPr>
          <a:xfrm>
            <a:off x="6766990" y="2662832"/>
            <a:ext cx="53117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Test utilisé :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La corrélation de Spearman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10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 test mesure si les deux variables évoluent ensemble </a:t>
            </a: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Dans notre cas la corrélation de Spearman rejette l’hypothèse d’indépendance et montre une faible relation négative non due au hasard.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623722A-AAFD-22B8-3852-163C754336AC}"/>
              </a:ext>
            </a:extLst>
          </p:cNvPr>
          <p:cNvSpPr txBox="1"/>
          <p:nvPr/>
        </p:nvSpPr>
        <p:spPr>
          <a:xfrm>
            <a:off x="323203" y="4576927"/>
            <a:ext cx="117555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 Conclusion :</a:t>
            </a:r>
            <a:endParaRPr lang="fr-FR" sz="12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L’</a:t>
            </a:r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analyse statistique confirme l’impression visuelle </a:t>
            </a: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du</a:t>
            </a:r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graphique </a:t>
            </a: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</a:t>
            </a:r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révèle une corrélation négative entre l’âge des clients et le montant de leurs achats, cependant cette relation reste faible en intensité.</a:t>
            </a:r>
          </a:p>
          <a:p>
            <a:pPr algn="l"/>
            <a:endParaRPr lang="fr-FR" sz="1200" b="1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Plus l’âge des clients augmente, </a:t>
            </a: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moins ils ont tendance à beaucoup dépenser pour leur achat</a:t>
            </a:r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l"/>
            <a:endParaRPr lang="fr-FR" sz="1200" b="1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L’</a:t>
            </a:r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âge </a:t>
            </a: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joue un rôle mineur sur le montant des dépenses totales des clients, d’autres facteurs influencent sûrement davantage l’importance du montant des dépenses réalisée par les clients. </a:t>
            </a:r>
            <a:endParaRPr lang="fr-FR" sz="1200" b="1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3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6A87AED-1AD5-A216-E585-BAAC5F9A42EE}"/>
              </a:ext>
            </a:extLst>
          </p:cNvPr>
          <p:cNvSpPr txBox="1"/>
          <p:nvPr/>
        </p:nvSpPr>
        <p:spPr>
          <a:xfrm>
            <a:off x="2752350" y="183458"/>
            <a:ext cx="9330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Verdana" panose="020B0604030504040204" pitchFamily="34" charset="0"/>
                <a:ea typeface="Verdana" panose="020B0604030504040204" pitchFamily="34" charset="0"/>
              </a:rPr>
              <a:t>L’âge des clients et la fréquence d’achat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981A32D-B50A-FF05-643A-5D20E972DC92}"/>
              </a:ext>
            </a:extLst>
          </p:cNvPr>
          <p:cNvSpPr txBox="1"/>
          <p:nvPr/>
        </p:nvSpPr>
        <p:spPr>
          <a:xfrm>
            <a:off x="-113123" y="708731"/>
            <a:ext cx="9450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Objectif : Définir si la fréquence des achats à un lien avec l’âge des clients</a:t>
            </a:r>
            <a:endParaRPr lang="fr-FR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A4D4449-F8B2-5A04-E568-7BEA7BEC57EA}"/>
              </a:ext>
            </a:extLst>
          </p:cNvPr>
          <p:cNvSpPr txBox="1"/>
          <p:nvPr/>
        </p:nvSpPr>
        <p:spPr>
          <a:xfrm>
            <a:off x="5634942" y="1318515"/>
            <a:ext cx="4474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L’âge des clients (Quantitative)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AE2819E-617C-3A7C-9D96-761907F2FBCD}"/>
              </a:ext>
            </a:extLst>
          </p:cNvPr>
          <p:cNvSpPr txBox="1"/>
          <p:nvPr/>
        </p:nvSpPr>
        <p:spPr>
          <a:xfrm>
            <a:off x="360969" y="1332482"/>
            <a:ext cx="592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La fréquence d’achat (Quantitative)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2D10F00-516D-B26F-79FB-B8FE2433B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07" y="1812433"/>
            <a:ext cx="9540000" cy="268532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3F6B822-BC66-9124-2DCF-9279ADAAB619}"/>
              </a:ext>
            </a:extLst>
          </p:cNvPr>
          <p:cNvSpPr txBox="1"/>
          <p:nvPr/>
        </p:nvSpPr>
        <p:spPr>
          <a:xfrm>
            <a:off x="334507" y="5032633"/>
            <a:ext cx="11658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Vérification de normalité : Test de Shapiro-</a:t>
            </a:r>
            <a:r>
              <a:rPr lang="fr-FR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Wilk</a:t>
            </a:r>
            <a:endParaRPr lang="fr-FR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1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analyses suivantes ont été réalisées avec des méthodes statistiques non-paramétriques car le test de Shapiro-</a:t>
            </a:r>
            <a:r>
              <a:rPr lang="fr-FR" sz="1100" b="1" dirty="0" err="1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Wilk</a:t>
            </a:r>
            <a:r>
              <a:rPr lang="fr-FR" sz="11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définit que la distribution des données ne respecte pas la loi normale.  </a:t>
            </a:r>
          </a:p>
        </p:txBody>
      </p:sp>
    </p:spTree>
    <p:extLst>
      <p:ext uri="{BB962C8B-B14F-4D97-AF65-F5344CB8AC3E}">
        <p14:creationId xmlns:p14="http://schemas.microsoft.com/office/powerpoint/2010/main" val="2603153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1D6BD2F-558D-29EF-691B-618FF66CB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78" y="653014"/>
            <a:ext cx="6242417" cy="369332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B51D54C-9F9C-B3F3-6B1F-0FF5E9EF34CE}"/>
              </a:ext>
            </a:extLst>
          </p:cNvPr>
          <p:cNvSpPr txBox="1"/>
          <p:nvPr/>
        </p:nvSpPr>
        <p:spPr>
          <a:xfrm>
            <a:off x="6927246" y="837036"/>
            <a:ext cx="4270258" cy="209288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Observations :</a:t>
            </a:r>
          </a:p>
          <a:p>
            <a:endParaRPr lang="fr-FR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5 Catégories d’âges :</a:t>
            </a:r>
          </a:p>
          <a:p>
            <a:pPr algn="l"/>
            <a:endParaRPr lang="fr-FR" sz="10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18-29 ans           </a:t>
            </a: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30-39 ans</a:t>
            </a: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40-49 ans</a:t>
            </a: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50-59 ans</a:t>
            </a: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60 ans et plus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28B064-3503-17EF-FD38-51B0D68DB4DC}"/>
              </a:ext>
            </a:extLst>
          </p:cNvPr>
          <p:cNvSpPr txBox="1"/>
          <p:nvPr/>
        </p:nvSpPr>
        <p:spPr>
          <a:xfrm>
            <a:off x="6927246" y="2929917"/>
            <a:ext cx="34582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Fréquences d’achat médianes :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fr-FR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plus faible: 18-29 ans</a:t>
            </a: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 plus forte: 40-49 ans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F4878C0-9A81-C138-0E90-E1A4C8B3D4DA}"/>
              </a:ext>
            </a:extLst>
          </p:cNvPr>
          <p:cNvSpPr txBox="1"/>
          <p:nvPr/>
        </p:nvSpPr>
        <p:spPr>
          <a:xfrm>
            <a:off x="0" y="261316"/>
            <a:ext cx="7753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Représentation de la fréquence d’achat en fonction de la catégorie d’âge des clients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B4AD36-AC4E-8649-CD4D-D5417976418A}"/>
              </a:ext>
            </a:extLst>
          </p:cNvPr>
          <p:cNvSpPr txBox="1"/>
          <p:nvPr/>
        </p:nvSpPr>
        <p:spPr>
          <a:xfrm>
            <a:off x="262078" y="4358327"/>
            <a:ext cx="11446013" cy="369331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Tests utilisés:</a:t>
            </a:r>
          </a:p>
          <a:p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		</a:t>
            </a:r>
          </a:p>
          <a:p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-Test de </a:t>
            </a:r>
            <a:r>
              <a:rPr lang="fr-FR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Kruskal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-Wallis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 test compare les différence entre plusieurs groupe quand la distribution des données n’est pas normales.</a:t>
            </a:r>
          </a:p>
          <a:p>
            <a:endParaRPr lang="fr-FR" sz="10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Dans notre cas le test de </a:t>
            </a:r>
            <a:r>
              <a:rPr lang="fr-FR" sz="1200" b="1" dirty="0" err="1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Kruskal</a:t>
            </a: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-Wallis  rejette l’hypothèse d’indépendance et montre des différences de fréquences d’achats en fonction des groupes d’âges des clients.</a:t>
            </a: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-Test post-hoc de Dunn :</a:t>
            </a:r>
          </a:p>
          <a:p>
            <a:endParaRPr lang="fr-FR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 test vient en complément  du premier et permet d’identifier quels groupes sont vraiment différents.</a:t>
            </a:r>
          </a:p>
          <a:p>
            <a:endParaRPr lang="fr-FR" sz="10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 test de Dunn confirme ici qu’il y existe de réelles différences de fréquence d’achats en fonction des groupes d’âges.</a:t>
            </a:r>
          </a:p>
        </p:txBody>
      </p:sp>
    </p:spTree>
    <p:extLst>
      <p:ext uri="{BB962C8B-B14F-4D97-AF65-F5344CB8AC3E}">
        <p14:creationId xmlns:p14="http://schemas.microsoft.com/office/powerpoint/2010/main" val="3389434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0E235EA-B956-1FC9-DFCE-C4AFF484DC66}"/>
              </a:ext>
            </a:extLst>
          </p:cNvPr>
          <p:cNvSpPr txBox="1"/>
          <p:nvPr/>
        </p:nvSpPr>
        <p:spPr>
          <a:xfrm>
            <a:off x="407907" y="4584186"/>
            <a:ext cx="112227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Conclusion :</a:t>
            </a:r>
            <a:endParaRPr lang="fr-FR" sz="1200" b="1" i="0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i="0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Il existe bien un lien entre âge et fréquence d’achat.</a:t>
            </a:r>
          </a:p>
          <a:p>
            <a:pPr algn="l"/>
            <a:endParaRPr lang="fr-FR" sz="1200" b="1" i="0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clients âgés de 40 à 49 ans sont ceux qui achètent le plus souvent.</a:t>
            </a:r>
          </a:p>
          <a:p>
            <a:pPr algn="l"/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clients âgés de 18 à 29 ans sont ceux qui achètent le moins souvent.  </a:t>
            </a:r>
            <a:endParaRPr lang="fr-FR" sz="1200" b="1" i="0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A102596-C23B-0B8C-9FF7-57DD182A9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74" y="719137"/>
            <a:ext cx="5289530" cy="354492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884CC21-8063-C560-3718-2436134419C5}"/>
              </a:ext>
            </a:extLst>
          </p:cNvPr>
          <p:cNvSpPr txBox="1"/>
          <p:nvPr/>
        </p:nvSpPr>
        <p:spPr>
          <a:xfrm>
            <a:off x="5634942" y="888819"/>
            <a:ext cx="6557059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Interprétations des comparaisons</a:t>
            </a:r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ntre les 18-29 ans  et les 30-39 ans :</a:t>
            </a:r>
          </a:p>
          <a:p>
            <a:pPr algn="l"/>
            <a:endParaRPr lang="fr-FR" sz="1000" b="1" i="0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fr-FR" sz="1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Ces deux 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groupes</a:t>
            </a:r>
            <a:r>
              <a:rPr lang="fr-FR" sz="1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ont un comportement d’achat différent.</a:t>
            </a:r>
          </a:p>
          <a:p>
            <a:pPr algn="l"/>
            <a:endParaRPr lang="fr-FR" sz="1000" b="1" i="0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ntre les 18-29  et les 40-49 ans,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et </a:t>
            </a:r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entre les 40-49 et les 60 ans et +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algn="l"/>
            <a:endParaRPr lang="fr-FR" sz="11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 Ces tranches d’âge ont des fréquences d’achat statistiquement distinctes.</a:t>
            </a:r>
          </a:p>
          <a:p>
            <a:pPr algn="l"/>
            <a:endParaRPr lang="fr-FR" sz="1100" b="1" i="0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ntre les 30-39 et les 50-59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ans </a:t>
            </a:r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algn="l"/>
            <a:endParaRPr lang="fr-FR" sz="1000" b="1" i="0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 Pas de </a:t>
            </a:r>
            <a:r>
              <a:rPr lang="fr-FR" sz="1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différence statistiquement significative détectée </a:t>
            </a:r>
          </a:p>
          <a:p>
            <a:pPr algn="l"/>
            <a:endParaRPr lang="fr-FR" sz="1100" b="1" i="0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fr-FR" sz="1200" b="1" i="0" dirty="0">
                <a:solidFill>
                  <a:srgbClr val="2F5597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ntre les 50-59 et les 60 ans et+ :</a:t>
            </a:r>
          </a:p>
          <a:p>
            <a:pPr algn="l"/>
            <a:endParaRPr lang="fr-FR" sz="900" b="1" i="0" dirty="0">
              <a:solidFill>
                <a:srgbClr val="2F5597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 Une différence statistiquement significative mais plus modérée.</a:t>
            </a:r>
          </a:p>
        </p:txBody>
      </p:sp>
    </p:spTree>
    <p:extLst>
      <p:ext uri="{BB962C8B-B14F-4D97-AF65-F5344CB8AC3E}">
        <p14:creationId xmlns:p14="http://schemas.microsoft.com/office/powerpoint/2010/main" val="601732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4F68154-D807-BBAE-D04B-A74CCEBB31A9}"/>
              </a:ext>
            </a:extLst>
          </p:cNvPr>
          <p:cNvSpPr txBox="1"/>
          <p:nvPr/>
        </p:nvSpPr>
        <p:spPr>
          <a:xfrm>
            <a:off x="2523224" y="160025"/>
            <a:ext cx="108219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latin typeface="Verdana" panose="020B0604030504040204" pitchFamily="34" charset="0"/>
                <a:ea typeface="Verdana" panose="020B0604030504040204" pitchFamily="34" charset="0"/>
              </a:rPr>
              <a:t>L’âge des clients et la taille du panier moyen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DE5211B-92BF-7827-8884-02A147637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860"/>
            <a:ext cx="11982450" cy="319666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B88C18F-F827-FE9B-5C6A-3DF8DC0CB56F}"/>
              </a:ext>
            </a:extLst>
          </p:cNvPr>
          <p:cNvSpPr txBox="1"/>
          <p:nvPr/>
        </p:nvSpPr>
        <p:spPr>
          <a:xfrm>
            <a:off x="285929" y="1242398"/>
            <a:ext cx="4474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L’âge des clients (Quantitative)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BF98F30-B74A-8D97-A285-0575B2710FFF}"/>
              </a:ext>
            </a:extLst>
          </p:cNvPr>
          <p:cNvSpPr txBox="1"/>
          <p:nvPr/>
        </p:nvSpPr>
        <p:spPr>
          <a:xfrm>
            <a:off x="6200966" y="1242397"/>
            <a:ext cx="4474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Montant du panier moyen (Quantitative)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8F2DBF8-4E9D-13C0-8407-5EB581CB613A}"/>
              </a:ext>
            </a:extLst>
          </p:cNvPr>
          <p:cNvSpPr txBox="1"/>
          <p:nvPr/>
        </p:nvSpPr>
        <p:spPr>
          <a:xfrm>
            <a:off x="188942" y="743164"/>
            <a:ext cx="1013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Objectif : Définir si les montants des paniers moyens des clients sont liés à leurs âges</a:t>
            </a:r>
            <a:endParaRPr lang="fr-FR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E38BEF-53FF-3139-7DF3-F2F23CBFF9D3}"/>
              </a:ext>
            </a:extLst>
          </p:cNvPr>
          <p:cNvSpPr txBox="1"/>
          <p:nvPr/>
        </p:nvSpPr>
        <p:spPr>
          <a:xfrm>
            <a:off x="285929" y="4984369"/>
            <a:ext cx="116584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Vérification de normalité : Test de Shapiro-</a:t>
            </a:r>
            <a:r>
              <a:rPr lang="fr-FR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Wilk</a:t>
            </a:r>
            <a:endParaRPr lang="fr-FR" sz="1200" b="1" i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0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1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Il faudra réaliser la suite des analyses avec des méthodes statistiques non-paramétriques car le test de Shapiro-</a:t>
            </a:r>
            <a:r>
              <a:rPr lang="fr-FR" sz="1100" b="1" dirty="0" err="1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Wilk</a:t>
            </a:r>
            <a:r>
              <a:rPr lang="fr-FR" sz="11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définit que la distribution des données ne respecte pas la loi normale.  </a:t>
            </a:r>
          </a:p>
        </p:txBody>
      </p:sp>
    </p:spTree>
    <p:extLst>
      <p:ext uri="{BB962C8B-B14F-4D97-AF65-F5344CB8AC3E}">
        <p14:creationId xmlns:p14="http://schemas.microsoft.com/office/powerpoint/2010/main" val="2877774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4FFFE8E-AD0F-BBA1-6C7A-767D8BA9A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00" y="652695"/>
            <a:ext cx="6017807" cy="392423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A7FC63B-710B-8204-F3B5-F5B33802A8C8}"/>
              </a:ext>
            </a:extLst>
          </p:cNvPr>
          <p:cNvSpPr txBox="1"/>
          <p:nvPr/>
        </p:nvSpPr>
        <p:spPr>
          <a:xfrm>
            <a:off x="6536004" y="896078"/>
            <a:ext cx="54017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Observations :</a:t>
            </a:r>
          </a:p>
          <a:p>
            <a:pPr algn="l"/>
            <a:endParaRPr lang="fr-FR" sz="1200" b="1" i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fr-FR" sz="1200" b="1" i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 montant du panier moyen des achats a tendance à diminuer plus l’âge des clients est élevé.(Ligne rouge)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fr-FR" sz="1200" b="1" i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Très forte densité de montant moyen du panier  situé entre 50 et 100 € pour les clients âgés de 18 à 30 ans.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5FF18D0-5C10-ECEA-7E1B-09E7BD207631}"/>
              </a:ext>
            </a:extLst>
          </p:cNvPr>
          <p:cNvSpPr txBox="1"/>
          <p:nvPr/>
        </p:nvSpPr>
        <p:spPr>
          <a:xfrm>
            <a:off x="420700" y="248625"/>
            <a:ext cx="7753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Représentation du panier moyen des clients et de l’âge des clients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7BBFE79-A174-5832-F259-038F573626BC}"/>
              </a:ext>
            </a:extLst>
          </p:cNvPr>
          <p:cNvSpPr txBox="1"/>
          <p:nvPr/>
        </p:nvSpPr>
        <p:spPr>
          <a:xfrm>
            <a:off x="6537178" y="2624023"/>
            <a:ext cx="544103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Test utilisé :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La corrélation de Spearman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10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 test mesure si les deux variables varient ensemble </a:t>
            </a: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Dans notre cas la corrélation de Spearman rejette l’hypothèse d’indépendance et montre une relation négative non due au hasard.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BEB0EE1-144B-1096-88BD-42DC9F6787F5}"/>
              </a:ext>
            </a:extLst>
          </p:cNvPr>
          <p:cNvSpPr txBox="1"/>
          <p:nvPr/>
        </p:nvSpPr>
        <p:spPr>
          <a:xfrm>
            <a:off x="420700" y="4576926"/>
            <a:ext cx="117555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 Conclusion:</a:t>
            </a:r>
            <a:endParaRPr lang="fr-FR" sz="12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L’</a:t>
            </a:r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analyse statistique confirme l’impression visuelle qui graphique et révèle une corrélation négative entre l’âge des clients et le montant de leurs achats, ce résultat est clair et significatif.</a:t>
            </a:r>
          </a:p>
          <a:p>
            <a:pPr algn="l"/>
            <a:endParaRPr lang="fr-FR" sz="1200" b="1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Plus l’âge des clients augmente, plus le montant du panier moyen diminue.</a:t>
            </a:r>
          </a:p>
          <a:p>
            <a:pPr algn="l"/>
            <a:endParaRPr lang="fr-FR" sz="1200" b="1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clients les plus jeunes dépensent en moyenne plus par achats que les clients plus âgés. </a:t>
            </a:r>
            <a:endParaRPr lang="fr-FR" sz="1200" b="1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218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C26E186-A3E3-C7BD-FCA5-6C05CAD2C3B0}"/>
              </a:ext>
            </a:extLst>
          </p:cNvPr>
          <p:cNvSpPr txBox="1"/>
          <p:nvPr/>
        </p:nvSpPr>
        <p:spPr>
          <a:xfrm>
            <a:off x="2339025" y="123303"/>
            <a:ext cx="9330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Verdana" panose="020B0604030504040204" pitchFamily="34" charset="0"/>
                <a:ea typeface="Verdana" panose="020B0604030504040204" pitchFamily="34" charset="0"/>
              </a:rPr>
              <a:t>L’âge des clients et la </a:t>
            </a:r>
            <a:r>
              <a:rPr lang="fr-FR" b="1" dirty="0">
                <a:latin typeface="Verdana" panose="020B0604030504040204" pitchFamily="34" charset="0"/>
                <a:ea typeface="Verdana" panose="020B0604030504040204" pitchFamily="34" charset="0"/>
              </a:rPr>
              <a:t>catégorie de livres achetés</a:t>
            </a:r>
            <a:endParaRPr lang="fr-FR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B5AD017-D294-1B3F-38BC-55F74156BBB1}"/>
              </a:ext>
            </a:extLst>
          </p:cNvPr>
          <p:cNvSpPr txBox="1"/>
          <p:nvPr/>
        </p:nvSpPr>
        <p:spPr>
          <a:xfrm>
            <a:off x="4712127" y="1194808"/>
            <a:ext cx="5612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Les catégories de livres achetés (Qualitative)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FE50AD-D4DC-33F3-438A-BC1E4958544F}"/>
              </a:ext>
            </a:extLst>
          </p:cNvPr>
          <p:cNvSpPr txBox="1"/>
          <p:nvPr/>
        </p:nvSpPr>
        <p:spPr>
          <a:xfrm>
            <a:off x="237537" y="1201788"/>
            <a:ext cx="4474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L’âge des clients (Quantitative)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C59B31E-C877-8DBB-AC86-26112FC0B846}"/>
              </a:ext>
            </a:extLst>
          </p:cNvPr>
          <p:cNvSpPr txBox="1"/>
          <p:nvPr/>
        </p:nvSpPr>
        <p:spPr>
          <a:xfrm>
            <a:off x="6625025" y="1911311"/>
            <a:ext cx="5435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Observations et </a:t>
            </a:r>
            <a:r>
              <a:rPr lang="fr-FR" sz="1200" b="1" u="sng" dirty="0" err="1">
                <a:latin typeface="Verdana" panose="020B0604030504040204" pitchFamily="34" charset="0"/>
                <a:ea typeface="Verdana" panose="020B0604030504040204" pitchFamily="34" charset="0"/>
              </a:rPr>
              <a:t>interpretations</a:t>
            </a:r>
            <a:r>
              <a:rPr lang="fr-FR" sz="1200" b="1" u="sng" dirty="0">
                <a:latin typeface="Verdana" panose="020B0604030504040204" pitchFamily="34" charset="0"/>
                <a:ea typeface="Verdana" panose="020B0604030504040204" pitchFamily="34" charset="0"/>
              </a:rPr>
              <a:t> :</a:t>
            </a:r>
          </a:p>
          <a:p>
            <a:pPr algn="l"/>
            <a:endParaRPr lang="fr-FR" sz="1000" b="1" u="sng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Catégorie 0 :</a:t>
            </a:r>
          </a:p>
          <a:p>
            <a:pPr algn="l"/>
            <a:endParaRPr lang="fr-FR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Age médian des clients: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43 ans</a:t>
            </a:r>
          </a:p>
          <a:p>
            <a:pPr algn="l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-Distribution concentré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entre 35 et 50 ans</a:t>
            </a:r>
          </a:p>
          <a:p>
            <a:pPr algn="l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-Quelques clients plus jeunes ou plus âgés</a:t>
            </a:r>
          </a:p>
          <a:p>
            <a:pPr algn="l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-Ages assez uniformément répartis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fr-FR" sz="1000" b="1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Catégorie 1 :</a:t>
            </a:r>
          </a:p>
          <a:p>
            <a:pPr algn="l"/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algn="l"/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Age médian des clients: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48 ans</a:t>
            </a:r>
          </a:p>
          <a:p>
            <a:pPr algn="l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-Distribution étalée de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 à 80 ans</a:t>
            </a:r>
          </a:p>
          <a:p>
            <a:pPr algn="l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-Cœur de la distribution: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45 à 60 ans</a:t>
            </a:r>
          </a:p>
          <a:p>
            <a:pPr algn="l"/>
            <a:endParaRPr lang="fr-FR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Catégorie 2 :</a:t>
            </a:r>
          </a:p>
          <a:p>
            <a:endParaRPr lang="fr-FR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-Age médian des clients: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25 ans</a:t>
            </a:r>
          </a:p>
          <a:p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-Distribution très resserrée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entre 20 et 30 ans</a:t>
            </a:r>
          </a:p>
          <a:p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-Peu de clients </a:t>
            </a:r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 dessus de 40 ans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77E4115-69B2-7C8C-1574-5C16320C29F7}"/>
              </a:ext>
            </a:extLst>
          </p:cNvPr>
          <p:cNvSpPr txBox="1"/>
          <p:nvPr/>
        </p:nvSpPr>
        <p:spPr>
          <a:xfrm>
            <a:off x="-154504" y="666351"/>
            <a:ext cx="1013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6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Objectif : Définir si la catégorie de livres achetés est en lien avec l’âge des clients</a:t>
            </a:r>
            <a:endParaRPr lang="fr-FR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9EA5DA0-8D05-FF2E-A91F-85B196313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5" y="1644892"/>
            <a:ext cx="6344239" cy="466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29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F074283-C435-11CD-B242-2DACFA28FC23}"/>
              </a:ext>
            </a:extLst>
          </p:cNvPr>
          <p:cNvSpPr txBox="1"/>
          <p:nvPr/>
        </p:nvSpPr>
        <p:spPr>
          <a:xfrm>
            <a:off x="171231" y="395524"/>
            <a:ext cx="11658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Vérification de normalité : Test de Shapiro-</a:t>
            </a:r>
            <a:r>
              <a:rPr lang="fr-FR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Wilk</a:t>
            </a:r>
            <a:endParaRPr lang="fr-FR" sz="1200" b="1" i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0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analyses suivantes ont été réalisées avec des méthodes statistiques non-paramétriques car le test de Shapiro-</a:t>
            </a:r>
            <a:r>
              <a:rPr lang="fr-FR" sz="1200" b="1" dirty="0" err="1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Wilk</a:t>
            </a: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a définit que la distribution des données ne respecte pas la loi normale. 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4E13D6E-4ECC-3182-3D49-7C3008A7B479}"/>
              </a:ext>
            </a:extLst>
          </p:cNvPr>
          <p:cNvSpPr txBox="1"/>
          <p:nvPr/>
        </p:nvSpPr>
        <p:spPr>
          <a:xfrm>
            <a:off x="171230" y="2670457"/>
            <a:ext cx="118798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Tests utilisés :</a:t>
            </a:r>
          </a:p>
          <a:p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		</a:t>
            </a:r>
          </a:p>
          <a:p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-Test de </a:t>
            </a:r>
            <a:r>
              <a:rPr lang="fr-FR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Kruskal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-Wallis 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 test compare les différences entre plusieurs groupes lorsque la distribution des données n’est pas normales.</a:t>
            </a:r>
          </a:p>
          <a:p>
            <a:endParaRPr lang="fr-FR" sz="10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Dans notre cas le test de Kruskal-Wallis  rejette l’hypothèse d’indépendance et montre des différences d'âge selon la catégorie de livres achetés.</a:t>
            </a:r>
          </a:p>
          <a:p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-Test post-hoc de Dunn :</a:t>
            </a:r>
          </a:p>
          <a:p>
            <a:endParaRPr lang="fr-FR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Ce test vient en complément  du premier et permet d’identifier quels groupes sont vraiment différents.</a:t>
            </a:r>
          </a:p>
          <a:p>
            <a:endParaRPr lang="fr-FR" sz="10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 test de Dunn confirme ici qu’il y existe de réelles différences de fréquence d’achats en fonction des groupes d’âges.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EDC3F1-FC28-C0F5-DFD6-B01B012BDFA9}"/>
              </a:ext>
            </a:extLst>
          </p:cNvPr>
          <p:cNvSpPr txBox="1"/>
          <p:nvPr/>
        </p:nvSpPr>
        <p:spPr>
          <a:xfrm>
            <a:off x="171230" y="1602220"/>
            <a:ext cx="11658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1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Vérification d’égalité des variances entre catégorie : Test de </a:t>
            </a:r>
            <a:r>
              <a:rPr lang="fr-FR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Levenne</a:t>
            </a:r>
            <a:endParaRPr lang="fr-FR" sz="1200" b="1" i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0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 résultat exclue l’hypothèse d’égalité des variances d’âge entre les catégories de livres.</a:t>
            </a:r>
          </a:p>
          <a:p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Il confirme l’utilisation du test de </a:t>
            </a:r>
            <a:r>
              <a:rPr lang="fr-FR" sz="1200" b="1" dirty="0" err="1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Kruskal</a:t>
            </a:r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-Wallis. </a:t>
            </a:r>
          </a:p>
        </p:txBody>
      </p:sp>
    </p:spTree>
    <p:extLst>
      <p:ext uri="{BB962C8B-B14F-4D97-AF65-F5344CB8AC3E}">
        <p14:creationId xmlns:p14="http://schemas.microsoft.com/office/powerpoint/2010/main" val="1165323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CE6F4AB-F608-8F62-159F-4DA8EAFEE040}"/>
              </a:ext>
            </a:extLst>
          </p:cNvPr>
          <p:cNvSpPr txBox="1"/>
          <p:nvPr/>
        </p:nvSpPr>
        <p:spPr>
          <a:xfrm>
            <a:off x="5634942" y="708237"/>
            <a:ext cx="6308819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Interprétations des comparaisons</a:t>
            </a:r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buFont typeface="Wingdings" panose="05000000000000000000" pitchFamily="2" charset="2"/>
              <a:buChar char="q"/>
            </a:pPr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fr-FR" sz="1100" b="1" i="0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 valeurs &lt;0,05 </a:t>
            </a:r>
            <a:r>
              <a:rPr lang="fr-FR" sz="11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: </a:t>
            </a:r>
            <a:r>
              <a:rPr lang="fr-FR" sz="1100" b="1" i="0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 différence est statistiquement significative</a:t>
            </a:r>
          </a:p>
          <a:p>
            <a:pPr marL="171450" indent="-171450" algn="l">
              <a:buFontTx/>
              <a:buChar char="-"/>
            </a:pPr>
            <a:endParaRPr lang="fr-FR" sz="1100" b="1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Toutes les valeurs sont égales à 0 ou à 1 :</a:t>
            </a:r>
          </a:p>
          <a:p>
            <a:pPr algn="l"/>
            <a:endParaRPr lang="fr-FR" sz="11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100" b="1" i="0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- 0.0 =</a:t>
            </a:r>
            <a:r>
              <a:rPr lang="fr-F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Il y a une différence significative</a:t>
            </a:r>
          </a:p>
          <a:p>
            <a:pPr algn="l"/>
            <a:r>
              <a:rPr lang="fr-FR" sz="11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fr-FR" sz="11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- 1.0 = </a:t>
            </a:r>
            <a:r>
              <a:rPr lang="fr-FR" sz="1100" b="1" dirty="0">
                <a:latin typeface="Verdana" panose="020B0604030504040204" pitchFamily="34" charset="0"/>
                <a:ea typeface="Verdana" panose="020B0604030504040204" pitchFamily="34" charset="0"/>
              </a:rPr>
              <a:t>Pas de différence significative</a:t>
            </a:r>
          </a:p>
          <a:p>
            <a:pPr algn="l"/>
            <a:endParaRPr lang="fr-FR" sz="1100" b="1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fr-FR" sz="1200" b="1" dirty="0">
                <a:solidFill>
                  <a:srgbClr val="2F5597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Il existe des écarts d’âges des clients significatifs entre certaines catégories de livres achetés.</a:t>
            </a:r>
          </a:p>
          <a:p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fr-FR" sz="1200" b="1" dirty="0">
              <a:solidFill>
                <a:srgbClr val="2F5597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fr-FR" sz="1100" b="1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A567CCA-C8A3-40CE-545E-DD958FF842DE}"/>
              </a:ext>
            </a:extLst>
          </p:cNvPr>
          <p:cNvSpPr txBox="1"/>
          <p:nvPr/>
        </p:nvSpPr>
        <p:spPr>
          <a:xfrm>
            <a:off x="380608" y="4208061"/>
            <a:ext cx="11222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fr-FR" sz="1200" b="1" dirty="0">
                <a:latin typeface="Verdana" panose="020B0604030504040204" pitchFamily="34" charset="0"/>
                <a:ea typeface="Verdana" panose="020B0604030504040204" pitchFamily="34" charset="0"/>
              </a:rPr>
              <a:t> Conclusion :</a:t>
            </a:r>
          </a:p>
          <a:p>
            <a:pPr algn="l"/>
            <a:endParaRPr lang="fr-FR" sz="1200" b="1" i="1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Les différents tests statistiques effectués recoupent la visualisation graphiques des données.</a:t>
            </a:r>
          </a:p>
          <a:p>
            <a:pPr algn="l"/>
            <a:endParaRPr lang="fr-FR" sz="1200" b="1" dirty="0">
              <a:solidFill>
                <a:srgbClr val="4466A2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Les achats des clients les plus jeunes (20 à 30 ans ) s’orientent d’avantage vers les produits de la  catégorie 2.</a:t>
            </a:r>
          </a:p>
          <a:p>
            <a:pPr algn="l"/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 l’inverse, les achats des clients âgés de 35 et 60 ans s’orientent principalement vers les produits des catégories 0 et 1.</a:t>
            </a:r>
          </a:p>
          <a:p>
            <a:pPr algn="l"/>
            <a:endParaRPr lang="fr-FR" sz="1200" b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fr-FR" sz="1200" b="1" dirty="0">
                <a:solidFill>
                  <a:srgbClr val="4466A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L’âge des clients a donc une influence notable sur le type la catégorie de livres achetés.  </a:t>
            </a:r>
            <a:endParaRPr lang="fr-FR" sz="1200" b="1" i="1" dirty="0">
              <a:solidFill>
                <a:srgbClr val="4466A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CF0614-7359-1C0E-457D-9746BD466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39" y="522603"/>
            <a:ext cx="5090601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48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F490465-1E11-077A-A58D-6C63D077A6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29310" r="12580" b="34914"/>
          <a:stretch/>
        </p:blipFill>
        <p:spPr>
          <a:xfrm>
            <a:off x="5634942" y="6367727"/>
            <a:ext cx="1132048" cy="360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7BC4E37-1E71-B4A3-ED35-FB8C5562A973}"/>
              </a:ext>
            </a:extLst>
          </p:cNvPr>
          <p:cNvSpPr txBox="1"/>
          <p:nvPr/>
        </p:nvSpPr>
        <p:spPr>
          <a:xfrm>
            <a:off x="1889520" y="2539515"/>
            <a:ext cx="86228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u="sng" dirty="0">
                <a:latin typeface="Verdana" panose="020B0604030504040204" pitchFamily="34" charset="0"/>
                <a:ea typeface="Verdana" panose="020B0604030504040204" pitchFamily="34" charset="0"/>
              </a:rPr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806480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2921</TotalTime>
  <Words>2174</Words>
  <Application>Microsoft Office PowerPoint</Application>
  <PresentationFormat>Grand écran</PresentationFormat>
  <Paragraphs>357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Verdana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Remy Maupetit</dc:creator>
  <cp:lastModifiedBy>Remy Maupetit</cp:lastModifiedBy>
  <cp:revision>56</cp:revision>
  <dcterms:created xsi:type="dcterms:W3CDTF">2025-10-15T06:29:32Z</dcterms:created>
  <dcterms:modified xsi:type="dcterms:W3CDTF">2025-11-03T11:28:20Z</dcterms:modified>
</cp:coreProperties>
</file>