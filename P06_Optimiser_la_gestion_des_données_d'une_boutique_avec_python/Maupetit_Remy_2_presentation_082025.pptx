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0" r:id="rId4"/>
    <p:sldId id="266" r:id="rId5"/>
    <p:sldId id="258" r:id="rId6"/>
    <p:sldId id="259" r:id="rId7"/>
    <p:sldId id="268" r:id="rId8"/>
    <p:sldId id="269" r:id="rId9"/>
    <p:sldId id="270" r:id="rId10"/>
    <p:sldId id="272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1" r:id="rId20"/>
    <p:sldId id="262" r:id="rId2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86" y="7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25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652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00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329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748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606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879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4561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425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967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5819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780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319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875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7097842" y="4062699"/>
            <a:ext cx="1939303" cy="1080801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16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Rémy Maupetit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fr" sz="1600" b="1" i="1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b="1" i="1" u="none" strike="noStrike" cap="none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fr" sz="16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buSzPct val="100000"/>
            </a:pPr>
            <a:r>
              <a:rPr lang="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29/08/2025</a:t>
            </a:r>
            <a:endParaRPr lang="fr" sz="1200" b="1" i="1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1" i="0" u="none" strike="noStrike" cap="none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61142" y="234222"/>
            <a:ext cx="8821712" cy="1269409"/>
          </a:xfrm>
          <a:prstGeom prst="rect">
            <a:avLst/>
          </a:prstGeom>
          <a:noFill/>
          <a:ln w="38100"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3000" b="1" dirty="0">
                <a:solidFill>
                  <a:srgbClr val="990033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Optimisation de la gestion des données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3000" b="1" dirty="0">
                <a:solidFill>
                  <a:srgbClr val="990033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et analyses commerciales</a:t>
            </a:r>
            <a:endParaRPr sz="3000" b="1" i="0" u="none" strike="noStrike" cap="none" dirty="0">
              <a:solidFill>
                <a:srgbClr val="990033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5B98E44-3E61-48F8-F271-39E043D736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3050320" y="1800653"/>
            <a:ext cx="3043356" cy="1737065"/>
          </a:xfrm>
          <a:prstGeom prst="rect">
            <a:avLst/>
          </a:prstGeom>
          <a:ln w="2857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4" y="1259173"/>
            <a:ext cx="7573918" cy="319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None/>
            </a:pPr>
            <a:endParaRPr lang="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Font typeface="Courier New" panose="02070309020205020404" pitchFamily="49" charset="0"/>
              <a:buChar char="o"/>
            </a:pPr>
            <a:r>
              <a:rPr lang="fr-FR" sz="2000" b="1" dirty="0" err="1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erp</a:t>
            </a:r>
            <a:r>
              <a:rPr lang="fr-FR" sz="20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(référence produit, prix , état des stocks…)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Font typeface="Wingdings" panose="05000000000000000000" pitchFamily="2" charset="2"/>
              <a:buChar char="ü"/>
            </a:pPr>
            <a:endParaRPr lang="fr-FR" sz="13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0033"/>
              </a:buClr>
              <a:buSzPct val="120000"/>
              <a:buFont typeface="Wingdings" panose="05000000000000000000" pitchFamily="2" charset="2"/>
              <a:buChar char="v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825 lignes</a:t>
            </a:r>
          </a:p>
          <a:p>
            <a:pPr lvl="1">
              <a:buClr>
                <a:srgbClr val="990033"/>
              </a:buClr>
              <a:buSzPct val="120000"/>
              <a:buFont typeface="Wingdings" panose="05000000000000000000" pitchFamily="2" charset="2"/>
              <a:buChar char="v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6 colonnes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(1 objet, 3 entiers, 2 décimaux)</a:t>
            </a:r>
          </a:p>
          <a:p>
            <a:pPr marL="596900" lvl="1" indent="0">
              <a:buClr>
                <a:srgbClr val="990033"/>
              </a:buClr>
              <a:buSzPct val="120000"/>
              <a:buNone/>
            </a:pPr>
            <a:endParaRPr lang="fr-FR" sz="13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Font typeface="Courier New" panose="02070309020205020404" pitchFamily="49" charset="0"/>
              <a:buChar char="o"/>
            </a:pPr>
            <a:r>
              <a:rPr lang="fr-FR" sz="20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web : 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fr-FR" sz="14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nombre de ventes, descriptions…)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None/>
            </a:pPr>
            <a:endParaRPr lang="fr-FR" sz="14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0033"/>
              </a:buClr>
              <a:buSzPct val="120000"/>
              <a:buFont typeface="Wingdings" panose="05000000000000000000" pitchFamily="2" charset="2"/>
              <a:buChar char="v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1513 lignes</a:t>
            </a:r>
          </a:p>
          <a:p>
            <a:pPr lvl="1">
              <a:buClr>
                <a:srgbClr val="990033"/>
              </a:buClr>
              <a:buSzPct val="120000"/>
              <a:buFont typeface="Wingdings" panose="05000000000000000000" pitchFamily="2" charset="2"/>
              <a:buChar char="v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29 colonnes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 (12 objets, 3 entiers, 10 décimaux, 4 dates)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None/>
            </a:pPr>
            <a:endParaRPr lang="fr-FR" sz="13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Font typeface="Courier New" panose="02070309020205020404" pitchFamily="49" charset="0"/>
              <a:buChar char="o"/>
            </a:pPr>
            <a:r>
              <a:rPr lang="fr-FR" sz="20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liaison : 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(table de liaison entre </a:t>
            </a:r>
            <a:r>
              <a:rPr lang="fr-FR" sz="14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erp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web via </a:t>
            </a:r>
            <a:r>
              <a:rPr lang="fr-FR" sz="14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product_id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sz="14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ct val="120000"/>
              <a:buFont typeface="Wingdings" panose="05000000000000000000" pitchFamily="2" charset="2"/>
              <a:buChar char="ü"/>
            </a:pPr>
            <a:endParaRPr lang="fr-FR" sz="14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0033"/>
              </a:buClr>
              <a:buSzPct val="120000"/>
              <a:buFont typeface="Wingdings" panose="05000000000000000000" pitchFamily="2" charset="2"/>
              <a:buChar char="v"/>
            </a:pPr>
            <a:r>
              <a:rPr lang="fr-FR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825 </a:t>
            </a:r>
            <a:r>
              <a:rPr lang="fr-FR" sz="14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lignes</a:t>
            </a:r>
          </a:p>
          <a:p>
            <a:pPr lvl="1">
              <a:buClr>
                <a:srgbClr val="990033"/>
              </a:buClr>
              <a:buSzPct val="120000"/>
              <a:buFont typeface="Wingdings" panose="05000000000000000000" pitchFamily="2" charset="2"/>
              <a:buChar char="v"/>
            </a:pPr>
            <a:r>
              <a:rPr lang="fr-FR" sz="14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 colonnes  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(1 objet , 1 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entier</a:t>
            </a: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909950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55257" y="213515"/>
            <a:ext cx="845445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Caractéristiques des 3 datasets excel de base</a:t>
            </a: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</a:t>
            </a: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6A89D2D-2133-E8BA-C828-EE2C80C446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0" y="1084586"/>
            <a:ext cx="8394493" cy="355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054100" lvl="2" indent="0">
              <a:buClr>
                <a:srgbClr val="990033"/>
              </a:buClr>
              <a:buNone/>
            </a:pPr>
            <a:endParaRPr lang="fr-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500" b="1" i="1" u="sng" dirty="0" err="1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df_erp</a:t>
            </a:r>
            <a:r>
              <a:rPr lang="fr-FR" sz="1500" b="1" i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fr-FR" sz="15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1054100" lvl="2" indent="0">
              <a:buClr>
                <a:srgbClr val="990033"/>
              </a:buClr>
              <a:buNone/>
            </a:pPr>
            <a:endParaRPr lang="fr-FR" sz="11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valeurs de stock négatives 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remplacées par des valeurs manquantes (NaN)</a:t>
            </a: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3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avec des valeurs négatives 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remplacés par des valeurs manquantes (NaN)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valeurs de statut du stock incohérentes: </a:t>
            </a:r>
            <a:r>
              <a:rPr lang="fr-FR" sz="11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mise en cohérence du statut avec quantité en stock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articles ayant un prix d’achat supérieur au prix de vente: </a:t>
            </a:r>
            <a:r>
              <a:rPr lang="fr-FR" sz="11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ignorés lors de l’analyse des marges</a:t>
            </a:r>
          </a:p>
          <a:p>
            <a:pPr marL="1511300" lvl="3" indent="0">
              <a:buClr>
                <a:schemeClr val="tx1"/>
              </a:buClr>
              <a:buNone/>
            </a:pPr>
            <a:endParaRPr lang="fr-FR" sz="11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500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500" b="1" i="1" u="sng" dirty="0" err="1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df_web</a:t>
            </a:r>
            <a:r>
              <a:rPr lang="fr-FR" sz="1500" b="1" i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5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1054100" lvl="2" indent="0">
              <a:buClr>
                <a:srgbClr val="990033"/>
              </a:buClr>
              <a:buNone/>
            </a:pPr>
            <a:endParaRPr lang="fr-FR" sz="11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714</a:t>
            </a:r>
            <a:r>
              <a:rPr lang="fr-FR" sz="13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valeurs de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3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présentes en double: </a:t>
            </a:r>
            <a:r>
              <a:rPr lang="fr-FR" sz="11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et filtrage des doublons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85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lignes dont la valeur </a:t>
            </a:r>
            <a:r>
              <a:rPr lang="fr-FR" sz="13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est manquante 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supprimées après vérification du contenu des lignes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valeur manquante dans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product_type</a:t>
            </a:r>
            <a:r>
              <a:rPr lang="fr-FR" sz="13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ajout de la valeur ‘Autre’</a:t>
            </a: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fr-FR" sz="1300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valeurs non conformes au format de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3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identifiées et gardées pour analyse 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valeurs négatives dans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total_sales</a:t>
            </a:r>
            <a:r>
              <a:rPr lang="fr-FR" sz="13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supprimées avec les lignes sans valeur </a:t>
            </a:r>
            <a:r>
              <a:rPr lang="fr-FR" sz="1200" b="1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endParaRPr lang="fr-FR" sz="12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Sélection des colonnes pertinentes pour l’analyse : </a:t>
            </a:r>
            <a:r>
              <a:rPr lang="fr-FR" sz="13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suppression des autres colonnes</a:t>
            </a:r>
          </a:p>
          <a:p>
            <a:pPr marL="1511300" lvl="3" indent="0">
              <a:buClr>
                <a:schemeClr val="tx1"/>
              </a:buClr>
              <a:buNone/>
            </a:pPr>
            <a:endParaRPr lang="fr-FR" sz="13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500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500" b="1" i="1" u="sng" dirty="0" err="1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df_liaison</a:t>
            </a:r>
            <a:r>
              <a:rPr lang="fr-FR" sz="1500" b="1" i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5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lvl="2">
              <a:buClr>
                <a:srgbClr val="990033"/>
              </a:buClr>
              <a:buFont typeface="Arial" panose="020B0604020202020204" pitchFamily="34" charset="0"/>
              <a:buChar char="•"/>
            </a:pPr>
            <a:endParaRPr lang="fr-FR" sz="12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90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valeurs en double dans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13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3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écartées lors de la jointure des </a:t>
            </a:r>
            <a:r>
              <a:rPr lang="fr-FR" sz="1300" b="1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dataframes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91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lignes sans valeurs dans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13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3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écartées lors de la jointure des </a:t>
            </a:r>
            <a:r>
              <a:rPr lang="fr-FR" sz="1300" b="1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dataframes</a:t>
            </a:r>
            <a:endParaRPr lang="fr-FR" sz="13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sz="13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valeurs non conformes au format de la colonne </a:t>
            </a:r>
            <a:r>
              <a:rPr lang="fr-FR" sz="13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13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Identifiées 2 similaire à </a:t>
            </a:r>
            <a:r>
              <a:rPr lang="fr-FR" sz="1200" b="1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df_web</a:t>
            </a:r>
            <a:r>
              <a:rPr lang="fr-FR" sz="12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1 écartée</a:t>
            </a:r>
            <a:endParaRPr sz="19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960110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244242" y="172063"/>
            <a:ext cx="8715459" cy="69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Traitements des anomalies</a:t>
            </a: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identifié</a:t>
            </a: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es et nettoyage des datasets avec python</a:t>
            </a: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5E20E7B-8337-9154-FD41-40BA2C748C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98305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94871" y="1174394"/>
            <a:ext cx="8754255" cy="320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Wingdings" panose="05000000000000000000" pitchFamily="2" charset="2"/>
              <a:buChar char="v"/>
            </a:pPr>
            <a:r>
              <a:rPr lang="fr-FR" b="0" i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Les </a:t>
            </a:r>
            <a:r>
              <a:rPr lang="fr-FR" b="0" i="1" dirty="0" err="1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datasets</a:t>
            </a:r>
            <a:r>
              <a:rPr lang="fr-FR" b="0" i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contiennent des données manquantes, incohérentes ou erronées pouvant fausser les analyses</a:t>
            </a:r>
          </a:p>
          <a:p>
            <a:pPr marL="5969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None/>
            </a:pPr>
            <a:endParaRPr lang="fr-FR" sz="1100" b="0" i="0" dirty="0">
              <a:solidFill>
                <a:srgbClr val="990033"/>
              </a:solidFill>
              <a:effectLst/>
              <a:latin typeface="Montserrat" panose="00000500000000000000" pitchFamily="2" charset="0"/>
            </a:endParaRP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-FR" i="1" dirty="0">
                <a:solidFill>
                  <a:srgbClr val="990033"/>
                </a:solidFill>
                <a:latin typeface="Montserrat" panose="00000500000000000000" pitchFamily="2" charset="0"/>
              </a:rPr>
              <a:t>Ne pas systématiquement supprimer </a:t>
            </a:r>
            <a:r>
              <a:rPr lang="fr-FR" b="0" i="1" dirty="0">
                <a:solidFill>
                  <a:srgbClr val="990033"/>
                </a:solidFill>
                <a:effectLst/>
                <a:latin typeface="Montserrat" panose="00000500000000000000" pitchFamily="2" charset="0"/>
              </a:rPr>
              <a:t>les lignes avec erreurs  mais tenter une correction, ou </a:t>
            </a:r>
            <a:r>
              <a:rPr lang="fr-FR" i="1" dirty="0">
                <a:solidFill>
                  <a:srgbClr val="990033"/>
                </a:solidFill>
                <a:latin typeface="Montserrat" panose="00000500000000000000" pitchFamily="2" charset="0"/>
              </a:rPr>
              <a:t>les</a:t>
            </a:r>
            <a:r>
              <a:rPr lang="fr-FR" b="0" i="1" dirty="0">
                <a:solidFill>
                  <a:srgbClr val="990033"/>
                </a:solidFill>
                <a:effectLst/>
                <a:latin typeface="Montserrat" panose="00000500000000000000" pitchFamily="2" charset="0"/>
              </a:rPr>
              <a:t> exclure lors de l’analyse</a:t>
            </a:r>
          </a:p>
          <a:p>
            <a:pPr marL="596900" lvl="1" indent="0">
              <a:buClr>
                <a:srgbClr val="990033"/>
              </a:buClr>
              <a:buNone/>
            </a:pPr>
            <a:endParaRPr lang="fr-FR" sz="1100" b="0" i="0" dirty="0">
              <a:solidFill>
                <a:srgbClr val="990033"/>
              </a:solidFill>
              <a:effectLst/>
              <a:latin typeface="Montserrat" panose="00000500000000000000" pitchFamily="2" charset="0"/>
            </a:endParaRPr>
          </a:p>
          <a:p>
            <a:pPr lvl="1">
              <a:buClr>
                <a:srgbClr val="990033"/>
              </a:buClr>
              <a:buFont typeface="Wingdings" panose="05000000000000000000" pitchFamily="2" charset="2"/>
              <a:buChar char="v"/>
            </a:pPr>
            <a:r>
              <a:rPr lang="fr-FR" i="1" dirty="0">
                <a:solidFill>
                  <a:schemeClr val="tx1"/>
                </a:solidFill>
                <a:latin typeface="Montserrat" panose="00000500000000000000" pitchFamily="2" charset="0"/>
              </a:rPr>
              <a:t>Les intitulés  des clés de liaison sont différent (</a:t>
            </a:r>
            <a:r>
              <a:rPr lang="fr-FR" i="1" dirty="0" err="1">
                <a:solidFill>
                  <a:schemeClr val="tx1"/>
                </a:solidFill>
                <a:latin typeface="Montserrat" panose="00000500000000000000" pitchFamily="2" charset="0"/>
              </a:rPr>
              <a:t>id_web</a:t>
            </a:r>
            <a:r>
              <a:rPr lang="fr-FR" i="1" dirty="0">
                <a:solidFill>
                  <a:schemeClr val="tx1"/>
                </a:solidFill>
                <a:latin typeface="Montserrat" panose="00000500000000000000" pitchFamily="2" charset="0"/>
              </a:rPr>
              <a:t> et </a:t>
            </a:r>
            <a:r>
              <a:rPr lang="fr-FR" i="1" dirty="0" err="1">
                <a:solidFill>
                  <a:schemeClr val="tx1"/>
                </a:solidFill>
                <a:latin typeface="Montserrat" panose="00000500000000000000" pitchFamily="2" charset="0"/>
              </a:rPr>
              <a:t>sku</a:t>
            </a:r>
            <a:r>
              <a:rPr lang="fr-FR" i="1" dirty="0">
                <a:solidFill>
                  <a:schemeClr val="tx1"/>
                </a:solidFill>
                <a:latin typeface="Montserrat" panose="00000500000000000000" pitchFamily="2" charset="0"/>
              </a:rPr>
              <a:t>)</a:t>
            </a:r>
          </a:p>
          <a:p>
            <a:pPr lvl="1">
              <a:buClr>
                <a:srgbClr val="990033"/>
              </a:buClr>
              <a:buFont typeface="Wingdings" panose="05000000000000000000" pitchFamily="2" charset="2"/>
              <a:buChar char="v"/>
            </a:pPr>
            <a:endParaRPr lang="fr-FR" sz="1100" dirty="0">
              <a:solidFill>
                <a:srgbClr val="990033"/>
              </a:solidFill>
              <a:latin typeface="Montserrat" panose="00000500000000000000" pitchFamily="2" charset="0"/>
            </a:endParaRP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-FR" dirty="0" err="1">
                <a:solidFill>
                  <a:srgbClr val="990033"/>
                </a:solidFill>
                <a:latin typeface="Montserrat" panose="00000500000000000000" pitchFamily="2" charset="0"/>
              </a:rPr>
              <a:t>df_web</a:t>
            </a:r>
            <a:r>
              <a:rPr lang="fr-FR" dirty="0">
                <a:solidFill>
                  <a:srgbClr val="990033"/>
                </a:solidFill>
                <a:latin typeface="Montserrat" panose="00000500000000000000" pitchFamily="2" charset="0"/>
              </a:rPr>
              <a:t> comporte 29 colonnes complexes à interpréter</a:t>
            </a:r>
          </a:p>
          <a:p>
            <a:pPr marL="596900" lvl="1" indent="0">
              <a:buClr>
                <a:srgbClr val="990033"/>
              </a:buClr>
              <a:buNone/>
            </a:pPr>
            <a:endParaRPr lang="fr-FR" sz="1100" dirty="0">
              <a:solidFill>
                <a:srgbClr val="990033"/>
              </a:solidFill>
              <a:latin typeface="Montserrat" panose="00000500000000000000" pitchFamily="2" charset="0"/>
            </a:endParaRPr>
          </a:p>
          <a:p>
            <a:pPr lvl="1">
              <a:buClr>
                <a:srgbClr val="990033"/>
              </a:buClr>
              <a:buFont typeface="Wingdings" panose="05000000000000000000" pitchFamily="2" charset="2"/>
              <a:buChar char="v"/>
            </a:pPr>
            <a:r>
              <a:rPr lang="fr-FR" b="0" i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Modifier des valeurs négatives (stocks, prix) par 0 ou leurs valeurs absolues peut biaiser l’analyse, </a:t>
            </a:r>
            <a:r>
              <a:rPr lang="fr-FR" i="1" dirty="0">
                <a:solidFill>
                  <a:schemeClr val="tx1"/>
                </a:solidFill>
                <a:latin typeface="Montserrat" panose="00000500000000000000" pitchFamily="2" charset="0"/>
              </a:rPr>
              <a:t>les</a:t>
            </a:r>
            <a:r>
              <a:rPr lang="fr-FR" b="0" i="1" dirty="0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écarter si  causes non identifiables</a:t>
            </a:r>
          </a:p>
          <a:p>
            <a:pPr lvl="1">
              <a:buClr>
                <a:srgbClr val="990033"/>
              </a:buClr>
              <a:buFont typeface="Wingdings" panose="05000000000000000000" pitchFamily="2" charset="2"/>
              <a:buChar char="v"/>
            </a:pPr>
            <a:endParaRPr lang="fr-FR" sz="1050" b="0" i="0" dirty="0">
              <a:solidFill>
                <a:srgbClr val="990033"/>
              </a:solidFill>
              <a:effectLst/>
              <a:latin typeface="Montserrat" panose="00000500000000000000" pitchFamily="2" charset="0"/>
            </a:endParaRPr>
          </a:p>
          <a:p>
            <a: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Wingdings" panose="05000000000000000000" pitchFamily="2" charset="2"/>
              <a:buChar char="v"/>
            </a:pPr>
            <a:endParaRPr lang="fr-FR" sz="900" i="1" dirty="0">
              <a:solidFill>
                <a:srgbClr val="990033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Wingdings" panose="05000000000000000000" pitchFamily="2" charset="2"/>
              <a:buChar char="v"/>
            </a:pPr>
            <a:endParaRPr lang="fr-FR" sz="9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Wingdings" panose="05000000000000000000" pitchFamily="2" charset="2"/>
              <a:buChar char="v"/>
            </a:pPr>
            <a:endParaRPr sz="9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1"/>
            <a:ext cx="9144000" cy="909950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5E20E7B-8337-9154-FD41-40BA2C748C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sp>
        <p:nvSpPr>
          <p:cNvPr id="3" name="Google Shape;65;p4">
            <a:extLst>
              <a:ext uri="{FF2B5EF4-FFF2-40B4-BE49-F238E27FC236}">
                <a16:creationId xmlns:a16="http://schemas.microsoft.com/office/drawing/2014/main" id="{BC4B9729-D9D0-CB1B-1F87-E8F88FC64563}"/>
              </a:ext>
            </a:extLst>
          </p:cNvPr>
          <p:cNvSpPr txBox="1"/>
          <p:nvPr/>
        </p:nvSpPr>
        <p:spPr>
          <a:xfrm>
            <a:off x="759463" y="1746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Remarques éventuelles, pièges ou difficultés</a:t>
            </a: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2767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281718" y="1180944"/>
            <a:ext cx="8580561" cy="339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Réalisation de 2 jointures successives pour fusionner les 3 dataframes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Jointure entre </a:t>
            </a:r>
            <a:r>
              <a:rPr lang="fr-FR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df_erp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df_liaison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fr-FR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df_merge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825 lignes/825  correspondantes</a:t>
            </a:r>
            <a:endParaRPr lang="fr-FR" sz="16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" sz="13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Choix des attributs df_erp: </a:t>
            </a:r>
            <a:r>
              <a:rPr lang="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product_id, onsale_web, price, stock_quantity, stock_status, purchase_price</a:t>
            </a:r>
            <a:endParaRPr lang="fr" sz="13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" sz="13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Choix des attributs df_liaison: </a:t>
            </a:r>
            <a:r>
              <a:rPr lang="fr-FR" sz="1100" b="1" i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fr" sz="1100" b="1" i="1" u="sng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d_web, product_id  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3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Clés utilisées: </a:t>
            </a:r>
            <a:r>
              <a:rPr lang="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product_id </a:t>
            </a: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(colonne commune au 2 dataframes)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sz="12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Jointure entre </a:t>
            </a:r>
            <a:r>
              <a:rPr lang="fr-FR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df_merge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df_web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fr-FR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df_merge_web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fr" sz="9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714 lignes/825 avec correspondances</a:t>
            </a:r>
            <a:endParaRPr lang="fr-FR" sz="16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-FR" sz="1000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-FR" sz="12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Choix des attributs </a:t>
            </a:r>
            <a:r>
              <a:rPr lang="fr-FR" sz="1200" dirty="0" err="1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df_merge</a:t>
            </a:r>
            <a:r>
              <a:rPr lang="fr-FR" sz="12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: 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product_id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onsale_web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price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stock_quantity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stock_status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purchase_price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_merge</a:t>
            </a:r>
            <a:endParaRPr lang="fr-FR" sz="13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-FR" sz="12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Choix des attributs </a:t>
            </a:r>
            <a:r>
              <a:rPr lang="fr-FR" sz="1200" dirty="0" err="1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df_web</a:t>
            </a:r>
            <a:r>
              <a:rPr lang="fr-FR" sz="12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total_sales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tax_status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product_type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post_title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post_type</a:t>
            </a:r>
            <a:endParaRPr lang="fr-FR" sz="13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fr-FR" sz="12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Clés utilisées: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id_web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(pour </a:t>
            </a:r>
            <a:r>
              <a:rPr lang="fr-FR" sz="11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df_merge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et </a:t>
            </a:r>
            <a:r>
              <a:rPr lang="fr-FR" sz="11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sku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(pour </a:t>
            </a:r>
            <a:r>
              <a:rPr lang="fr-FR" sz="1100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df_web</a:t>
            </a: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 : </a:t>
            </a:r>
            <a:r>
              <a:rPr lang="fr-FR" sz="9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données identiques mais noms de colonnes différents</a:t>
            </a:r>
            <a:endParaRPr lang="fr-FR" sz="8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sz="10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fr-FR" sz="12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Pour l’analyse, seules 714 lignes correspondantes sont conservées</a:t>
            </a:r>
            <a:endParaRPr sz="12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909950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2078063" y="207505"/>
            <a:ext cx="53789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des données</a:t>
            </a: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04BA38-E153-9214-5D78-44CFD4493D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"/>
            <a:ext cx="9144000" cy="966866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645033" y="19849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 la répartition des prix</a:t>
            </a: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DFD4166-D5AC-FCE8-3EF2-46CF9479AE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9" t="10275" r="6881" b="8747"/>
          <a:stretch/>
        </p:blipFill>
        <p:spPr>
          <a:xfrm>
            <a:off x="118546" y="1101778"/>
            <a:ext cx="5527874" cy="347765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sp>
        <p:nvSpPr>
          <p:cNvPr id="7" name="Google Shape;79;p6">
            <a:extLst>
              <a:ext uri="{FF2B5EF4-FFF2-40B4-BE49-F238E27FC236}">
                <a16:creationId xmlns:a16="http://schemas.microsoft.com/office/drawing/2014/main" id="{F6E0C3C0-4EA8-4E0B-1F89-35F6C3C2414B}"/>
              </a:ext>
            </a:extLst>
          </p:cNvPr>
          <p:cNvSpPr txBox="1">
            <a:spLocks/>
          </p:cNvSpPr>
          <p:nvPr/>
        </p:nvSpPr>
        <p:spPr>
          <a:xfrm>
            <a:off x="5744417" y="1204027"/>
            <a:ext cx="3211394" cy="327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-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Chiffres clés :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u="sng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médian 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23,45 €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25% des prix : 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&lt; 14,05 €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75% des prix : </a:t>
            </a: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&lt; 42,10 €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Majorité des prix : </a:t>
            </a:r>
            <a:r>
              <a:rPr lang="fr-FR" sz="12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&gt;5,20 € </a:t>
            </a:r>
            <a:r>
              <a:rPr lang="fr-FR" sz="10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et</a:t>
            </a:r>
            <a:r>
              <a:rPr lang="fr-FR" sz="13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1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&lt;83,70 €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min : </a:t>
            </a: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5,20 €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Prix max : 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225 €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Valeurs aberrantes :</a:t>
            </a:r>
            <a:r>
              <a:rPr lang="fr-FR" sz="12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3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 &gt; </a:t>
            </a:r>
            <a:r>
              <a:rPr lang="fr-FR" sz="13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83,70 €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8008" y="1283456"/>
            <a:ext cx="8199388" cy="3013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Détermination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du prix moyen : </a:t>
            </a:r>
            <a:r>
              <a:rPr lang="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32,33€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alcul de l’ecart-type du prix : </a:t>
            </a:r>
            <a:r>
              <a:rPr lang="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27,60€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Evaluation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du Z-score prix pour chaque article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du seuil de prix pour Z-score &gt; 3  : </a:t>
            </a: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115,13€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-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prix atypiques  : </a:t>
            </a:r>
            <a:r>
              <a:rPr lang="fr-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13 (de 116,40 à 225 €)</a:t>
            </a:r>
            <a:endParaRPr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936885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150496" y="246975"/>
            <a:ext cx="70144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>
              <a:buSzPts val="2500"/>
            </a:pPr>
            <a:r>
              <a:rPr lang="fr-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prix atypiques par z-index</a:t>
            </a:r>
            <a:r>
              <a:rPr lang="fr-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10309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3630" y="1324418"/>
            <a:ext cx="8324363" cy="322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des seuils pour les articles atypiques en prix: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	-</a:t>
            </a:r>
            <a:r>
              <a:rPr lang="fr-FR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Seuil inférieur : </a:t>
            </a: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-27,96 €</a:t>
            </a:r>
          </a:p>
          <a:p>
            <a:pPr marL="114300" indent="0">
              <a:buClr>
                <a:srgbClr val="990033"/>
              </a:buClr>
              <a:buNone/>
            </a:pP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fr-FR" sz="10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fr-FR" sz="16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Seuil supérieur : 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84,09 €</a:t>
            </a:r>
          </a:p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4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Détermination 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du nombre d’outliers : </a:t>
            </a:r>
            <a:r>
              <a:rPr lang="fr-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31 (de 85,60 à 225 €)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4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Calcul de la part  d’articles aux prix atypiques : </a:t>
            </a:r>
            <a:r>
              <a:rPr lang="fr-FR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4,34 %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1"/>
            <a:ext cx="9144000" cy="959386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553630" y="210559"/>
            <a:ext cx="851541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des prix atypiques par intervalles interquartilles</a:t>
            </a: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7509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413372" y="1457819"/>
            <a:ext cx="8184823" cy="273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du CA par article</a:t>
            </a: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alcul du CA Total : </a:t>
            </a:r>
            <a:r>
              <a:rPr lang="fr-FR" sz="18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143 680,10 €</a:t>
            </a: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Wingdings" panose="05000000000000000000" pitchFamily="2" charset="2"/>
              <a:buChar char="Ø"/>
            </a:pP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Evaluation du CA du site web : </a:t>
            </a: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143 598,90 €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004341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355067" y="220585"/>
            <a:ext cx="7003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Détermination du chiffre d’affaires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42547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004341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352269" y="220585"/>
            <a:ext cx="863933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Top 20 des articles en fonction du </a:t>
            </a: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chiffre d’affaires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B494BAF-D0EA-B775-829A-2772AA2C0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3" y="1041113"/>
            <a:ext cx="8892540" cy="356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7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968739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355067" y="220585"/>
            <a:ext cx="7003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Pareto 20 / 80 en chiffre d’affaires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sp>
        <p:nvSpPr>
          <p:cNvPr id="11" name="Google Shape;79;p6">
            <a:extLst>
              <a:ext uri="{FF2B5EF4-FFF2-40B4-BE49-F238E27FC236}">
                <a16:creationId xmlns:a16="http://schemas.microsoft.com/office/drawing/2014/main" id="{DE0D6FAE-ABB7-E2A3-95C2-E6F42CBAE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3334" y="1262160"/>
            <a:ext cx="8117773" cy="319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de la part du CA par article</a:t>
            </a: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alcul de la part cumulée du CA des articles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1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Détermination du nombre d’articles dont CA cumulé &gt; 80% 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435 </a:t>
            </a: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60,92%</a:t>
            </a:r>
            <a:r>
              <a:rPr lang="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du catalogue (</a:t>
            </a:r>
            <a:r>
              <a:rPr lang="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714 articles</a:t>
            </a:r>
            <a:r>
              <a:rPr lang="fr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endParaRPr lang="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8915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1"/>
            <a:ext cx="9144000" cy="944380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355067" y="220585"/>
            <a:ext cx="7003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Top 20 </a:t>
            </a: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des articles les plus vendus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36D2261-EEB1-6658-27BF-943751451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" y="1116767"/>
            <a:ext cx="8804724" cy="352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0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951875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607103" y="220585"/>
            <a:ext cx="77516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Pareto  20 / 80 en quantités d’articles vendus </a:t>
            </a:r>
            <a:endParaRPr lang="fr"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sp>
        <p:nvSpPr>
          <p:cNvPr id="11" name="Google Shape;79;p6">
            <a:extLst>
              <a:ext uri="{FF2B5EF4-FFF2-40B4-BE49-F238E27FC236}">
                <a16:creationId xmlns:a16="http://schemas.microsoft.com/office/drawing/2014/main" id="{DE0D6FAE-ABB7-E2A3-95C2-E6F42CBAE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914" y="1224926"/>
            <a:ext cx="8840788" cy="326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de la quantité totale d’articles vendus : </a:t>
            </a:r>
            <a:r>
              <a:rPr lang="fr-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5751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-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valuation de la part de chaque article vendu dans la quantité totale des ventes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alcul de la part cumulée de chaque article dans la quantité totale d’ articles vendus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Cacul du nombre d’articles représentant au moins 80 % des ventes: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617 </a:t>
            </a:r>
            <a:endParaRPr lang="fr-FR" sz="18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-FR" sz="18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86,41 % </a:t>
            </a:r>
            <a:r>
              <a:rPr lang="fr-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du catalogue</a:t>
            </a: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99629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003655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355067" y="220585"/>
            <a:ext cx="7003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Valorisation et rotation</a:t>
            </a: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des </a:t>
            </a: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stocks</a:t>
            </a:r>
            <a:endParaRPr lang="fr"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sp>
        <p:nvSpPr>
          <p:cNvPr id="11" name="Google Shape;79;p6">
            <a:extLst>
              <a:ext uri="{FF2B5EF4-FFF2-40B4-BE49-F238E27FC236}">
                <a16:creationId xmlns:a16="http://schemas.microsoft.com/office/drawing/2014/main" id="{DE0D6FAE-ABB7-E2A3-95C2-E6F42CBAE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1969" y="1304831"/>
            <a:ext cx="7255743" cy="295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de la quantité  d’articles en stock : </a:t>
            </a:r>
            <a:r>
              <a:rPr lang="fr-FR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16740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-FR" sz="11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valuation de la valeur du stock : </a:t>
            </a: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277 328,07 €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1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Détermination</a:t>
            </a: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de la rotation des stocks par article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Calcul du nombre de mois de stock par article </a:t>
            </a: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82256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934739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539647" y="220585"/>
            <a:ext cx="801224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es 20 articles ayant le plus de mois de stock</a:t>
            </a:r>
            <a:endParaRPr lang="fr"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9FF1CE6-30D1-36CC-4694-C5C39BCF1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56" y="1013870"/>
            <a:ext cx="8709288" cy="35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60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004341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355067" y="220585"/>
            <a:ext cx="7003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Taux de marge par article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sp>
        <p:nvSpPr>
          <p:cNvPr id="11" name="Google Shape;79;p6">
            <a:extLst>
              <a:ext uri="{FF2B5EF4-FFF2-40B4-BE49-F238E27FC236}">
                <a16:creationId xmlns:a16="http://schemas.microsoft.com/office/drawing/2014/main" id="{DE0D6FAE-ABB7-E2A3-95C2-E6F42CBAE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8906" y="1224926"/>
            <a:ext cx="7704489" cy="333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§"/>
            </a:pPr>
            <a:r>
              <a:rPr lang="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9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Définition des prix hors taxe des articles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-FR" sz="11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sz="19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Détermination</a:t>
            </a:r>
            <a:r>
              <a:rPr lang="fr" sz="19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du taux de marge par article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100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" sz="19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Réalisation des calculs suivants 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0033"/>
              </a:buClr>
              <a:buSzPts val="1800"/>
              <a:buFont typeface="Arial" panose="020B0604020202020204" pitchFamily="34" charset="0"/>
              <a:buChar char="•"/>
            </a:pPr>
            <a:r>
              <a:rPr lang="fr" sz="1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de marge minimum : </a:t>
            </a:r>
            <a:r>
              <a:rPr lang="fr-FR" sz="19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29,5 %</a:t>
            </a:r>
          </a:p>
          <a:p>
            <a:pPr marL="596900" lvl="1" indent="0">
              <a:buClr>
                <a:srgbClr val="990033"/>
              </a:buClr>
              <a:buSzPts val="1800"/>
              <a:buNone/>
            </a:pPr>
            <a:endParaRPr lang="fr" sz="9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fr" sz="1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de marge maximum : </a:t>
            </a:r>
            <a:r>
              <a:rPr lang="fr-FR" sz="1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91,41 %</a:t>
            </a:r>
          </a:p>
          <a:p>
            <a:pPr marL="596900" lvl="1" indent="0">
              <a:buClr>
                <a:schemeClr val="tx1"/>
              </a:buClr>
              <a:buSzPts val="1800"/>
              <a:buNone/>
            </a:pPr>
            <a:endParaRPr lang="fr" sz="9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rgbClr val="990033"/>
              </a:buClr>
              <a:buSzPts val="1800"/>
              <a:buFont typeface="Arial" panose="020B0604020202020204" pitchFamily="34" charset="0"/>
              <a:buChar char="•"/>
            </a:pPr>
            <a:r>
              <a:rPr lang="fr" sz="1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de marge moyen : </a:t>
            </a:r>
            <a:r>
              <a:rPr lang="fr-FR" sz="19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61,22 %</a:t>
            </a:r>
          </a:p>
          <a:p>
            <a:pPr marL="596900" lvl="1" indent="0">
              <a:buClr>
                <a:srgbClr val="990033"/>
              </a:buClr>
              <a:buSzPts val="1800"/>
              <a:buNone/>
            </a:pPr>
            <a:endParaRPr lang="fr" sz="9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buClr>
                <a:schemeClr val="tx1"/>
              </a:buClr>
              <a:buSzPts val="1800"/>
              <a:buFont typeface="Arial" panose="020B0604020202020204" pitchFamily="34" charset="0"/>
              <a:buChar char="•"/>
            </a:pPr>
            <a:r>
              <a:rPr lang="fr" sz="1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Taux de marge médian: </a:t>
            </a:r>
            <a:r>
              <a:rPr lang="fr-FR" sz="19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61,27 %</a:t>
            </a:r>
            <a:endParaRPr lang="fr" sz="19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2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r>
              <a:rPr lang="fr" sz="19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Evaluation du taux de marge moyen par type de produit</a:t>
            </a:r>
            <a:endParaRPr lang="fr" sz="17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Wingdings" panose="05000000000000000000" pitchFamily="2" charset="2"/>
              <a:buChar char="Ø"/>
            </a:pPr>
            <a:endParaRPr lang="fr" sz="17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78084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951875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24460" y="230892"/>
            <a:ext cx="843309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Taux de marge moyen par type de produit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DD80CE6-9A7B-87A1-BF33-9E7DE6EA3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51" y="1235233"/>
            <a:ext cx="5805745" cy="332927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0D6FE01-06DD-1BFF-5F3C-1FABFCA08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45" y="1323389"/>
            <a:ext cx="2797805" cy="30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21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936885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87181" y="220585"/>
            <a:ext cx="787155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Correlations entre stock, ventes, et prix</a:t>
            </a:r>
            <a:endParaRPr lang="fr" sz="2500" b="1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F3941E-53C8-025E-30BF-3E8069F12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F8439D-7661-8466-489B-05ACEF64F4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24"/>
          <a:stretch/>
        </p:blipFill>
        <p:spPr>
          <a:xfrm>
            <a:off x="329781" y="1202962"/>
            <a:ext cx="4444586" cy="3440674"/>
          </a:xfrm>
          <a:prstGeom prst="rect">
            <a:avLst/>
          </a:prstGeom>
        </p:spPr>
      </p:pic>
      <p:sp>
        <p:nvSpPr>
          <p:cNvPr id="10" name="Google Shape;79;p6">
            <a:extLst>
              <a:ext uri="{FF2B5EF4-FFF2-40B4-BE49-F238E27FC236}">
                <a16:creationId xmlns:a16="http://schemas.microsoft.com/office/drawing/2014/main" id="{16CD1316-F981-62A7-992F-D594DDE4A81B}"/>
              </a:ext>
            </a:extLst>
          </p:cNvPr>
          <p:cNvSpPr txBox="1">
            <a:spLocks/>
          </p:cNvSpPr>
          <p:nvPr/>
        </p:nvSpPr>
        <p:spPr>
          <a:xfrm>
            <a:off x="4975816" y="1609744"/>
            <a:ext cx="4168184" cy="228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-FR" b="1" u="sng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Analyse des relations :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u="sng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Relation stock/ventes :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0,44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Relation prix/ventes :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 -0,52</a:t>
            </a:r>
          </a:p>
          <a:p>
            <a:pPr marL="114300" indent="0">
              <a:buClr>
                <a:srgbClr val="990033"/>
              </a:buClr>
              <a:buNone/>
            </a:pP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buClr>
                <a:srgbClr val="990033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Relation stock/prix:</a:t>
            </a:r>
            <a:r>
              <a:rPr lang="fr-FR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6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 -0,094</a:t>
            </a:r>
          </a:p>
          <a:p>
            <a:pPr marL="114300" indent="0">
              <a:buClr>
                <a:srgbClr val="990033"/>
              </a:buClr>
              <a:buNone/>
            </a:pPr>
            <a:endParaRPr lang="fr-FR" sz="13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endParaRPr lang="fr-FR" sz="16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endParaRPr lang="fr-FR" sz="16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endParaRPr lang="fr-FR" sz="10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31259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944380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232346" y="174636"/>
            <a:ext cx="9054059" cy="69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SzPts val="2500"/>
            </a:pPr>
            <a:r>
              <a:rPr lang="fr-FR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 pour le traitement des données</a:t>
            </a:r>
            <a:endParaRPr sz="1600" b="1" dirty="0"/>
          </a:p>
        </p:txBody>
      </p:sp>
      <p:sp>
        <p:nvSpPr>
          <p:cNvPr id="6" name="Google Shape;79;p6">
            <a:extLst>
              <a:ext uri="{FF2B5EF4-FFF2-40B4-BE49-F238E27FC236}">
                <a16:creationId xmlns:a16="http://schemas.microsoft.com/office/drawing/2014/main" id="{69D602C0-6629-AB62-2FFC-ADD1DA5FC4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3767" y="1040478"/>
            <a:ext cx="7368672" cy="362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sz="14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Créer un fichier mensuel à partir des données erp et web: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Les caractéristiques produits</a:t>
            </a:r>
          </a:p>
          <a:p>
            <a:pPr marL="114300" indent="0">
              <a:buClr>
                <a:srgbClr val="990033"/>
              </a:buClr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Les informations prix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Les stocks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Les ventes réalisées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sz="14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Calculer les différents indicateurs mensuel 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endParaRPr lang="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r>
              <a:rPr lang="fr" sz="10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Analyser les prix et identifier les eventuelles valeurs atypiques</a:t>
            </a: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r>
              <a:rPr lang="fr" sz="10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Calculer et analyser les ventes en nombres et en chiffre d’affaires</a:t>
            </a: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r>
              <a:rPr lang="fr-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Calculer le taux de marge par article et par type de produit</a:t>
            </a:r>
            <a:endParaRPr lang="fr" sz="11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990033"/>
              </a:buClr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Evaluer la valeur des stocks et leurs rotations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Courier New" panose="02070309020205020404" pitchFamily="49" charset="0"/>
              <a:buChar char="o"/>
            </a:pPr>
            <a:r>
              <a:rPr lang="fr" sz="1400" b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Agréger les fichiers mensuels: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Analyser les données en fonction des temporalités 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r>
              <a:rPr lang="fr" sz="11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Obtenir des indicateurs d’aide à la décision plus fin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EFB5DE4-5ABF-66D4-8A39-2B3B70E517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951875"/>
          </a:xfrm>
          <a:prstGeom prst="rect">
            <a:avLst/>
          </a:prstGeom>
          <a:solidFill>
            <a:srgbClr val="99003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910515" y="27952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b="1" dirty="0"/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332421" y="1231403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fr" sz="16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 panose="020B0604020202020204" pitchFamily="34" charset="0"/>
              <a:buChar char="•"/>
            </a:pPr>
            <a:r>
              <a:rPr lang="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L’identification des erreurs et incohérences des jeux de données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Tx/>
              <a:buChar char="-"/>
            </a:pPr>
            <a:endParaRPr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fr" sz="16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Qu’est-ce que vous avez trouvé le plus difficile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 mise en forme des graphiques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sz="10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r" sz="1600" b="1" i="1" dirty="0">
                <a:solidFill>
                  <a:srgbClr val="990033"/>
                </a:solidFill>
                <a:latin typeface="Montserrat"/>
                <a:ea typeface="Montserrat"/>
                <a:cs typeface="Montserrat"/>
                <a:sym typeface="Montserrat"/>
              </a:rPr>
              <a:t>Sur quelles tâches est-ce que vous pensez avoir besoin de plus d'entraînement ?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None/>
            </a:pPr>
            <a:endParaRPr lang="fr" sz="1000" b="1" i="1" dirty="0">
              <a:solidFill>
                <a:srgbClr val="9900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800"/>
              <a:buFont typeface="Arial" panose="020B0604020202020204" pitchFamily="34" charset="0"/>
              <a:buChar char="•"/>
            </a:pPr>
            <a:r>
              <a:rPr lang="fr" sz="1400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Les différents calculs statistiques ( Z-score, écart type, intervalles interquartiles, calculs de seuils) et leurs interprétations</a:t>
            </a:r>
            <a:endParaRPr sz="1400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DD01853-B341-DB08-CDD2-9360E4E80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37" t="8794" r="6061" b="7116"/>
          <a:stretch/>
        </p:blipFill>
        <p:spPr>
          <a:xfrm>
            <a:off x="4287098" y="4643636"/>
            <a:ext cx="569803" cy="325228"/>
          </a:xfrm>
          <a:prstGeom prst="rect">
            <a:avLst/>
          </a:prstGeom>
          <a:ln w="2857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1333</Words>
  <Application>Microsoft Office PowerPoint</Application>
  <PresentationFormat>Affichage à l'écran (16:9)</PresentationFormat>
  <Paragraphs>228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Montserrat</vt:lpstr>
      <vt:lpstr>Wingdings</vt:lpstr>
      <vt:lpstr>Courier New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Remy Maupetit</dc:creator>
  <cp:lastModifiedBy>Remy Maupetit</cp:lastModifiedBy>
  <cp:revision>61</cp:revision>
  <dcterms:modified xsi:type="dcterms:W3CDTF">2025-08-25T08:17:43Z</dcterms:modified>
</cp:coreProperties>
</file>