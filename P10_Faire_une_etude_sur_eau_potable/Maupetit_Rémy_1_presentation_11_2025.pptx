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9" r:id="rId4"/>
    <p:sldId id="260" r:id="rId5"/>
    <p:sldId id="261" r:id="rId6"/>
    <p:sldId id="269" r:id="rId7"/>
    <p:sldId id="268" r:id="rId8"/>
    <p:sldId id="264" r:id="rId9"/>
    <p:sldId id="276" r:id="rId10"/>
    <p:sldId id="263" r:id="rId11"/>
    <p:sldId id="262" r:id="rId12"/>
    <p:sldId id="270" r:id="rId13"/>
    <p:sldId id="271" r:id="rId14"/>
    <p:sldId id="272" r:id="rId15"/>
    <p:sldId id="273" r:id="rId16"/>
    <p:sldId id="274" r:id="rId17"/>
    <p:sldId id="275" r:id="rId18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5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8CEDF553-3D31-06C2-4627-7DDC9676811D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7028317-AD06-A8EF-CCF4-64A46912BB65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1AF4822F-D6C8-4BD1-BFE3-65D7498D8E6B}" type="datetime1">
              <a:rPr lang="fr-FR"/>
              <a:pPr lvl="0"/>
              <a:t>04/12/2025</a:t>
            </a:fld>
            <a:endParaRPr lang="fr-FR"/>
          </a:p>
        </p:txBody>
      </p:sp>
      <p:sp>
        <p:nvSpPr>
          <p:cNvPr id="4" name="Espace réservé de l'image des diapositives 3">
            <a:extLst>
              <a:ext uri="{FF2B5EF4-FFF2-40B4-BE49-F238E27FC236}">
                <a16:creationId xmlns:a16="http://schemas.microsoft.com/office/drawing/2014/main" id="{33E21302-0889-98F1-8155-ABCDC2EB19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Espace réservé des notes 4">
            <a:extLst>
              <a:ext uri="{FF2B5EF4-FFF2-40B4-BE49-F238E27FC236}">
                <a16:creationId xmlns:a16="http://schemas.microsoft.com/office/drawing/2014/main" id="{CFBDDB9F-A1BE-1354-67FA-AA3C89B8FF09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9AC4369-3FAF-1F36-8421-BE78272522E5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F209780-220B-AE1A-8303-8F86A6A8337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93EDCFEB-78D9-427C-9DF7-06838A695DE5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23364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fr-FR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FAE7838-7C69-7361-7790-78B9D8676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9E60570-8D7E-1E8D-B864-32477134F2D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7E84AFE-5334-39B8-183E-F3A27FA31E88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24FEB08-6670-44FA-B122-9F99B72432F7}" type="slidenum">
              <a:t>14</a:t>
            </a:fld>
            <a:endParaRPr lang="fr-FR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790E5F2E-FA89-AD38-C29E-BC1ED1A08DCD}"/>
              </a:ext>
            </a:extLst>
          </p:cNvPr>
          <p:cNvSpPr/>
          <p:nvPr/>
        </p:nvSpPr>
        <p:spPr>
          <a:xfrm>
            <a:off x="-6839" y="2059009"/>
            <a:ext cx="12195663" cy="18288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C7839C3-E5B4-95E3-FBD1-8B1E3819764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65760" y="2166359"/>
            <a:ext cx="11471568" cy="1739344"/>
          </a:xfrm>
        </p:spPr>
        <p:txBody>
          <a:bodyPr anchorCtr="1"/>
          <a:lstStyle>
            <a:lvl1pPr algn="ctr">
              <a:lnSpc>
                <a:spcPct val="80000"/>
              </a:lnSpc>
              <a:defRPr sz="6000" spc="150"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3022E401-F282-ED6F-FDC2-0A3A8C7E07A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996248"/>
            <a:ext cx="9144000" cy="1309256"/>
          </a:xfrm>
        </p:spPr>
        <p:txBody>
          <a:bodyPr anchorCtr="1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EC1F408-0D0C-805F-A0A1-E58E412B1C62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FF444C3-CA42-4A5A-87DF-CF0713555B8C}" type="datetime1">
              <a:rPr lang="fr-FR"/>
              <a:pPr lvl="0"/>
              <a:t>04/12/2025</a:t>
            </a:fld>
            <a:endParaRPr lang="fr-F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1BE3FCD-CFF8-B418-8A11-AF66B21A905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EEF174-F05E-4CD9-3BDF-4F58700DE71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F7C5DDD-A95B-4E52-B947-0BDB13AE26AF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198715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0F1F4F-5C1A-9E37-EC9E-D01ACC85E14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DB881F-127D-C7A7-A8A4-3287923DFC43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92A5B-92C0-4D86-4C2F-75759A809F5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5BA3206-385C-4101-AB4C-AA81B85854C2}" type="datetime1">
              <a:rPr lang="fr-FR"/>
              <a:pPr lvl="0"/>
              <a:t>04/12/2025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50A3F-F993-8C12-FA6C-4CDFC2E9A38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4D310-AE6F-492B-943E-72AE2C6FD2A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4C4D6F7-A85C-49AA-AB8F-1545B20C054D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241906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AD46421B-5CB7-09BD-FBD0-FFB4008F33B6}"/>
              </a:ext>
            </a:extLst>
          </p:cNvPr>
          <p:cNvSpPr/>
          <p:nvPr/>
        </p:nvSpPr>
        <p:spPr>
          <a:xfrm>
            <a:off x="-6839" y="2059009"/>
            <a:ext cx="12195663" cy="1828800"/>
          </a:xfrm>
          <a:prstGeom prst="rect">
            <a:avLst/>
          </a:prstGeom>
          <a:solidFill>
            <a:srgbClr val="099BDD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B2CAD1C-C5F4-BA22-7994-C4CE87EEBF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3192" y="2208879"/>
            <a:ext cx="10515600" cy="1676396"/>
          </a:xfrm>
        </p:spPr>
        <p:txBody>
          <a:bodyPr anchorCtr="1">
            <a:noAutofit/>
          </a:bodyPr>
          <a:lstStyle>
            <a:lvl1pPr algn="ctr">
              <a:lnSpc>
                <a:spcPct val="80000"/>
              </a:lnSpc>
              <a:defRPr sz="6000" spc="150">
                <a:solidFill>
                  <a:srgbClr val="FFFFFF"/>
                </a:solidFill>
              </a:defRPr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FE51CB81-AE8C-DF2F-9F61-825A095317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3192" y="4010329"/>
            <a:ext cx="10515600" cy="1174638"/>
          </a:xfrm>
        </p:spPr>
        <p:txBody>
          <a:bodyPr anchorCtr="1"/>
          <a:lstStyle>
            <a:lvl1pPr marL="0" indent="0" algn="ctr">
              <a:buNone/>
              <a:defRPr sz="2000">
                <a:solidFill>
                  <a:srgbClr val="099BDD"/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9613126-D35F-BA2A-4FBB-4954B500203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>
                <a:solidFill>
                  <a:srgbClr val="099BDD"/>
                </a:solidFill>
              </a:defRPr>
            </a:lvl1pPr>
          </a:lstStyle>
          <a:p>
            <a:pPr lvl="0"/>
            <a:fld id="{E81EEB3D-94F7-4239-88E7-F26147CE99C5}" type="datetime1">
              <a:rPr lang="fr-FR"/>
              <a:pPr lvl="0"/>
              <a:t>04/12/2025</a:t>
            </a:fld>
            <a:endParaRPr lang="fr-F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B838900-9237-BB13-59CD-531AA34656C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>
                <a:solidFill>
                  <a:srgbClr val="099BDD"/>
                </a:solidFill>
              </a:defRPr>
            </a:lvl1pPr>
          </a:lstStyle>
          <a:p>
            <a:pPr lvl="0"/>
            <a:endParaRPr lang="fr-F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6DA7D5B-5034-7BD4-B51D-34DE228DED2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>
                <a:solidFill>
                  <a:srgbClr val="099BDD"/>
                </a:solidFill>
              </a:defRPr>
            </a:lvl1pPr>
          </a:lstStyle>
          <a:p>
            <a:pPr lvl="0"/>
            <a:fld id="{6A3F582F-3FFA-462B-B0CC-093EDC61A8D5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2680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3E6513C6-4C55-8BC2-672B-4A6A749648B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C93426-19A2-9051-E535-02FB5218053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205343" y="2011680"/>
            <a:ext cx="4754880" cy="42062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C5D1DB-DA11-DD39-E2EC-C30D74A99BE1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230392" y="2011680"/>
            <a:ext cx="4754880" cy="420624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7443D5-71CA-1147-8204-1C28F0F997D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92FD021-6D19-4606-8FDB-A9866B5AEA40}" type="datetime1">
              <a:rPr lang="fr-FR"/>
              <a:pPr lvl="0"/>
              <a:t>04/12/2025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85D7AF-5211-CA22-53E7-CA11CF135BA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1F0AC5-39D8-663C-A2AD-A2213F2B8F4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3C211DD-ED9F-4D5C-87D6-F7A296832EFD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1684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9">
            <a:extLst>
              <a:ext uri="{FF2B5EF4-FFF2-40B4-BE49-F238E27FC236}">
                <a16:creationId xmlns:a16="http://schemas.microsoft.com/office/drawing/2014/main" id="{A1919470-D96C-0880-9B34-3AF259381B3F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EC92D9-79DF-868D-533C-F95AB97563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7008" y="1913473"/>
            <a:ext cx="4754880" cy="743096"/>
          </a:xfrm>
        </p:spPr>
        <p:txBody>
          <a:bodyPr anchor="ctr"/>
          <a:lstStyle>
            <a:lvl1pPr marL="0" indent="0">
              <a:buNone/>
              <a:defRPr sz="2100" b="1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36E9C7-EEDC-B56E-0ED8-737DACD04FBA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1207008" y="2656569"/>
            <a:ext cx="4754880" cy="35661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D6A0AF-6693-8491-EF4B-BD4AC87764A0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231233" y="1913473"/>
            <a:ext cx="4754880" cy="743096"/>
          </a:xfrm>
        </p:spPr>
        <p:txBody>
          <a:bodyPr anchor="ctr"/>
          <a:lstStyle>
            <a:lvl1pPr marL="0" indent="0">
              <a:buNone/>
              <a:defRPr sz="2100" b="1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AF45FB-1EEE-E62A-2052-C1DF4CA907EA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231233" y="2656560"/>
            <a:ext cx="4754880" cy="356616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2A98FD-B6F5-EF75-49D3-0260D2E8C6C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2E8AC42-E223-42D0-B8BF-CFB63D4094DA}" type="datetime1">
              <a:rPr lang="fr-FR"/>
              <a:pPr lvl="0"/>
              <a:t>04/12/2025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FE4354-CBA4-CA35-82F9-5374C8718EE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B031A2-7D0A-5750-0E28-63B53F8F23F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4BD8BF4-D1CB-4DA3-B634-7E7618472E3B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94265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A4D4C-F79C-8B50-2B06-0E36A675208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A72BA9F-09FC-DCDC-D982-D1877E4DC77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17071E9-E276-49F0-B6CD-D6CDB8292060}" type="datetime1">
              <a:rPr lang="fr-FR"/>
              <a:pPr lvl="0"/>
              <a:t>04/12/2025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640BCD-4E08-C7A9-E1BB-9A8B08E7BA9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5015C1-6C03-E349-1751-7038878E536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35D8AFC-284B-4EB7-AA33-EC8288C4B37C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5852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705A89-E4B6-0990-EFB3-B8E07CB4617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BDE0A2A-11FD-4B7B-8A55-E36AAFE35733}" type="datetime1">
              <a:rPr lang="fr-FR"/>
              <a:pPr lvl="0"/>
              <a:t>04/12/2025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126EBF-D485-8DAC-9B4A-26D86AB3C9E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B63AFA-D0E7-6D94-635D-E3F592A338E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AC70FAC-F2D6-402D-984A-00028655DF55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07789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B9E0A663-1EE9-7F40-9C66-AA7C390054C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5A206-CB47-277E-0EE1-9226AC66AE0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207008" y="2120054"/>
            <a:ext cx="6126480" cy="4114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4520D-5C59-3F84-8B6E-58DDE457EFD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789023" y="2147486"/>
            <a:ext cx="3200400" cy="3432319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8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2FAB52-B88A-6E82-91FC-8FCABD8C6C60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94FCE66-08B4-496E-BB6F-84BCE240C56E}" type="datetime1">
              <a:rPr lang="fr-FR"/>
              <a:pPr lvl="0"/>
              <a:t>04/12/2025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341985-949F-8821-F21B-E3854D241E4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358FA-F35A-B7CA-F6BA-C816D975032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52304F0-3056-437A-890D-8240B9CF14C3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2452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FF2B5EF4-FFF2-40B4-BE49-F238E27FC236}">
                <a16:creationId xmlns:a16="http://schemas.microsoft.com/office/drawing/2014/main" id="{EDD2ACC6-7748-15E5-C09B-B2DB91B606CC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AE795C-0AF1-41E8-699D-554AA0EC0A76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1280160" y="2211494"/>
            <a:ext cx="6126480" cy="3931920"/>
          </a:xfrm>
          <a:solidFill>
            <a:srgbClr val="F7F7F7"/>
          </a:solidFill>
        </p:spPr>
        <p:txBody>
          <a:bodyPr tIns="365760" anchorCtr="1"/>
          <a:lstStyle>
            <a:lvl1pPr marL="0" indent="0" algn="ctr">
              <a:buNone/>
              <a:defRPr sz="3200">
                <a:solidFill>
                  <a:srgbClr val="7F7F7F"/>
                </a:solidFill>
              </a:defRPr>
            </a:lvl1pPr>
          </a:lstStyle>
          <a:p>
            <a:pPr lvl="0"/>
            <a:r>
              <a:rPr lang="fr-FR"/>
              <a:t>Cliquez sur l'icône pour ajouter une image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4AFA2E-21E5-36EA-4F40-7E3486D60A49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7790688" y="2150623"/>
            <a:ext cx="3200400" cy="3429000"/>
          </a:xfrm>
        </p:spPr>
        <p:txBody>
          <a:bodyPr/>
          <a:lstStyle>
            <a:lvl1pPr marL="0" indent="0">
              <a:lnSpc>
                <a:spcPct val="95000"/>
              </a:lnSpc>
              <a:buNone/>
              <a:defRPr sz="1800"/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851679-5799-1C49-C418-50FCA8DF023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07D1A38-F109-4440-B450-ED420E24D865}" type="datetime1">
              <a:rPr lang="fr-FR"/>
              <a:pPr lvl="0"/>
              <a:t>04/12/2025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7E2DEC-1A62-6B1E-4BB3-1A3D118C78D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84923-8BD9-B37E-0316-9C5E0463D56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7919C0C-2E34-4D71-8514-F4AE0A75D8CF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13600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917AF-49CB-0C90-E49A-156078486DCA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79F39-4163-EACB-FFB3-DA37CD629417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E23412-33A9-53DD-6F1C-F34BAA2B859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D2EE725-699C-48A1-9D18-564A35753037}" type="datetime1">
              <a:rPr lang="fr-FR"/>
              <a:pPr lvl="0"/>
              <a:t>04/12/2025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54673-9907-7DF4-4B7E-8FE2357BA39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767E9-67DE-FEC6-D77D-45088AC3A3A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0221E91-E209-4462-8258-2F6D5029AC36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0718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0ED5140D-1CBA-F9A0-A659-F7E9DE5719D2}"/>
              </a:ext>
            </a:extLst>
          </p:cNvPr>
          <p:cNvSpPr/>
          <p:nvPr/>
        </p:nvSpPr>
        <p:spPr>
          <a:xfrm>
            <a:off x="9019312" y="0"/>
            <a:ext cx="2743200" cy="685800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Vertical Title 1">
            <a:extLst>
              <a:ext uri="{FF2B5EF4-FFF2-40B4-BE49-F238E27FC236}">
                <a16:creationId xmlns:a16="http://schemas.microsoft.com/office/drawing/2014/main" id="{AC247673-0634-210D-9851-7EDA39BA338A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9160623" y="274640"/>
            <a:ext cx="2402375" cy="5897559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Vertical Text Placeholder 2">
            <a:extLst>
              <a:ext uri="{FF2B5EF4-FFF2-40B4-BE49-F238E27FC236}">
                <a16:creationId xmlns:a16="http://schemas.microsoft.com/office/drawing/2014/main" id="{77A08FA2-83AD-2087-3DDE-5734A130503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274640"/>
            <a:ext cx="7973293" cy="589755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E7EE54E1-DFC4-5CC1-4580-7DD06B1FB98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>
          <a:xfrm>
            <a:off x="838203" y="6422855"/>
            <a:ext cx="2743200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1C97CE4B-330E-4C42-BDFD-AAF8B65333B4}" type="datetime1">
              <a:rPr lang="fr-FR"/>
              <a:pPr lvl="0"/>
              <a:t>04/12/2025</a:t>
            </a:fld>
            <a:endParaRPr lang="fr-F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C488A61-1CD4-6C59-4E73-886E47FDF03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3776133" y="6422855"/>
            <a:ext cx="4279666" cy="365129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fr-F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AE0721C-AD01-E8A4-876A-137727665919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8073045" y="6422855"/>
            <a:ext cx="879762" cy="365129"/>
          </a:xfrm>
        </p:spPr>
        <p:txBody>
          <a:bodyPr/>
          <a:lstStyle>
            <a:lvl1pPr>
              <a:defRPr/>
            </a:lvl1pPr>
          </a:lstStyle>
          <a:p>
            <a:pPr lvl="0"/>
            <a:fld id="{27848DC3-4B41-41FD-8D55-C4FFC63F583C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3413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9B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E78294C0-75B9-1263-2464-C3F00BAA0A2D}"/>
              </a:ext>
            </a:extLst>
          </p:cNvPr>
          <p:cNvSpPr/>
          <p:nvPr/>
        </p:nvSpPr>
        <p:spPr>
          <a:xfrm>
            <a:off x="484" y="176113"/>
            <a:ext cx="12188952" cy="1645920"/>
          </a:xfrm>
          <a:prstGeom prst="rect">
            <a:avLst/>
          </a:prstGeom>
          <a:solidFill>
            <a:srgbClr val="FFFFFF"/>
          </a:solidFill>
          <a:ln cap="flat">
            <a:noFill/>
            <a:prstDash val="solid"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fr-FR" sz="18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A3148C46-CF50-2E78-7808-BC77B0556A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2920" y="284177"/>
            <a:ext cx="9784080" cy="150876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fr-FR"/>
              <a:t>Modifiez le style du titre</a:t>
            </a:r>
            <a:endParaRPr lang="en-US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2206A6DC-8686-E1EE-A264-DBD1303DE8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202920" y="2011680"/>
            <a:ext cx="9784080" cy="4206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27F2597-5BFD-D125-3DC9-50106D8A0ABA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202262" y="6422855"/>
            <a:ext cx="300089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45720" bIns="45720" anchor="ctr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050" b="0" i="0" u="none" strike="noStrike" kern="1200" cap="none" spc="0" baseline="0">
                <a:solidFill>
                  <a:srgbClr val="FFFFFF"/>
                </a:solidFill>
                <a:uFillTx/>
                <a:latin typeface="Corbel"/>
              </a:defRPr>
            </a:lvl1pPr>
          </a:lstStyle>
          <a:p>
            <a:pPr lvl="0"/>
            <a:fld id="{DCDCBA0B-F454-4803-AFD8-41A4B033B9B3}" type="datetime1">
              <a:rPr lang="fr-FR"/>
              <a:pPr lvl="0"/>
              <a:t>04/12/2025</a:t>
            </a:fld>
            <a:endParaRPr lang="fr-FR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5587F2E-D694-DA6B-E170-D7B5F1E5E221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5596475" y="6422855"/>
            <a:ext cx="5044443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050" b="0" i="0" u="none" strike="noStrike" kern="1200" cap="none" spc="0" baseline="0">
                <a:solidFill>
                  <a:srgbClr val="FFFFFF"/>
                </a:solidFill>
                <a:uFillTx/>
                <a:latin typeface="Corbel"/>
              </a:defRPr>
            </a:lvl1pPr>
          </a:lstStyle>
          <a:p>
            <a:pPr lvl="0"/>
            <a:endParaRPr lang="fr-FR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28D61F4-46B6-3DE5-0A64-A237F88C4F2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0658923" y="6422855"/>
            <a:ext cx="946266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45720" tIns="45720" rIns="91440" bIns="45720" anchor="ctr" anchorCtr="0" compatLnSpc="1">
            <a:noAutofit/>
          </a:bodyPr>
          <a:lstStyle>
            <a:lvl1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fr-FR" sz="1200" b="0" i="0" u="none" strike="noStrike" kern="1200" cap="none" spc="0" baseline="0">
                <a:solidFill>
                  <a:srgbClr val="FFFFFF"/>
                </a:solidFill>
                <a:uFillTx/>
                <a:latin typeface="Corbel"/>
              </a:defRPr>
            </a:lvl1pPr>
          </a:lstStyle>
          <a:p>
            <a:pPr lvl="0"/>
            <a:fld id="{ECD42C3B-30F1-4450-AF07-F06C622133B3}" type="slidenum"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85000"/>
        </a:lnSpc>
        <a:spcBef>
          <a:spcPts val="0"/>
        </a:spcBef>
        <a:spcAft>
          <a:spcPts val="0"/>
        </a:spcAft>
        <a:buNone/>
        <a:tabLst/>
        <a:defRPr lang="fr-FR" sz="4000" b="0" i="0" u="none" strike="noStrike" kern="1200" cap="all" spc="0" baseline="0">
          <a:solidFill>
            <a:srgbClr val="099BDD"/>
          </a:solidFill>
          <a:uFillTx/>
          <a:latin typeface="Corbel"/>
        </a:defRPr>
      </a:lvl1pPr>
    </p:titleStyle>
    <p:bodyStyle>
      <a:lvl1pPr marL="182880" marR="0" lvl="0" indent="-182880" algn="l" defTabSz="914400" rtl="0" fontAlgn="auto" hangingPunct="1">
        <a:lnSpc>
          <a:spcPct val="90000"/>
        </a:lnSpc>
        <a:spcBef>
          <a:spcPts val="1200"/>
        </a:spcBef>
        <a:spcAft>
          <a:spcPts val="200"/>
        </a:spcAft>
        <a:buClr>
          <a:srgbClr val="FFFFFF"/>
        </a:buClr>
        <a:buSzPct val="100000"/>
        <a:buFont typeface="Wingdings" pitchFamily="2"/>
        <a:buChar char=""/>
        <a:tabLst/>
        <a:defRPr lang="fr-FR" sz="2200" b="0" i="0" u="none" strike="noStrike" kern="1200" cap="none" spc="0" baseline="0">
          <a:solidFill>
            <a:srgbClr val="FFFFFF"/>
          </a:solidFill>
          <a:uFillTx/>
          <a:latin typeface="Corbel"/>
        </a:defRPr>
      </a:lvl1pPr>
      <a:lvl2pPr marL="411480" marR="0" lvl="1" indent="-182880" algn="l" defTabSz="914400" rtl="0" fontAlgn="auto" hangingPunct="1">
        <a:lnSpc>
          <a:spcPct val="90000"/>
        </a:lnSpc>
        <a:spcBef>
          <a:spcPts val="200"/>
        </a:spcBef>
        <a:spcAft>
          <a:spcPts val="400"/>
        </a:spcAft>
        <a:buClr>
          <a:srgbClr val="FFFFFF"/>
        </a:buClr>
        <a:buSzPct val="100000"/>
        <a:buFont typeface="Wingdings" pitchFamily="2"/>
        <a:buChar char=""/>
        <a:tabLst/>
        <a:defRPr lang="fr-FR" sz="2000" b="0" i="0" u="none" strike="noStrike" kern="1200" cap="none" spc="0" baseline="0">
          <a:solidFill>
            <a:srgbClr val="FFFFFF"/>
          </a:solidFill>
          <a:uFillTx/>
          <a:latin typeface="Corbel"/>
        </a:defRPr>
      </a:lvl2pPr>
      <a:lvl3pPr marL="640080" marR="0" lvl="2" indent="-182880" algn="l" defTabSz="914400" rtl="0" fontAlgn="auto" hangingPunct="1">
        <a:lnSpc>
          <a:spcPct val="90000"/>
        </a:lnSpc>
        <a:spcBef>
          <a:spcPts val="200"/>
        </a:spcBef>
        <a:spcAft>
          <a:spcPts val="400"/>
        </a:spcAft>
        <a:buClr>
          <a:srgbClr val="FFFFFF"/>
        </a:buClr>
        <a:buSzPct val="100000"/>
        <a:buFont typeface="Wingdings" pitchFamily="2"/>
        <a:buChar char=""/>
        <a:tabLst/>
        <a:defRPr lang="fr-FR" sz="1800" b="0" i="0" u="none" strike="noStrike" kern="1200" cap="none" spc="0" baseline="0">
          <a:solidFill>
            <a:srgbClr val="FFFFFF"/>
          </a:solidFill>
          <a:uFillTx/>
          <a:latin typeface="Corbel"/>
        </a:defRPr>
      </a:lvl3pPr>
      <a:lvl4pPr marL="868680" marR="0" lvl="3" indent="-182880" algn="l" defTabSz="914400" rtl="0" fontAlgn="auto" hangingPunct="1">
        <a:lnSpc>
          <a:spcPct val="90000"/>
        </a:lnSpc>
        <a:spcBef>
          <a:spcPts val="200"/>
        </a:spcBef>
        <a:spcAft>
          <a:spcPts val="400"/>
        </a:spcAft>
        <a:buClr>
          <a:srgbClr val="FFFFFF"/>
        </a:buClr>
        <a:buSzPct val="100000"/>
        <a:buFont typeface="Wingdings" pitchFamily="2"/>
        <a:buChar char=""/>
        <a:tabLst/>
        <a:defRPr lang="fr-FR" sz="1600" b="0" i="0" u="none" strike="noStrike" kern="1200" cap="none" spc="0" baseline="0">
          <a:solidFill>
            <a:srgbClr val="FFFFFF"/>
          </a:solidFill>
          <a:uFillTx/>
          <a:latin typeface="Corbel"/>
        </a:defRPr>
      </a:lvl4pPr>
      <a:lvl5pPr marL="1097280" marR="0" lvl="4" indent="-182880" algn="l" defTabSz="914400" rtl="0" fontAlgn="auto" hangingPunct="1">
        <a:lnSpc>
          <a:spcPct val="90000"/>
        </a:lnSpc>
        <a:spcBef>
          <a:spcPts val="200"/>
        </a:spcBef>
        <a:spcAft>
          <a:spcPts val="400"/>
        </a:spcAft>
        <a:buClr>
          <a:srgbClr val="FFFFFF"/>
        </a:buClr>
        <a:buSzPct val="100000"/>
        <a:buFont typeface="Wingdings" pitchFamily="2"/>
        <a:buChar char=""/>
        <a:tabLst/>
        <a:defRPr lang="fr-FR" sz="1600" b="0" i="0" u="none" strike="noStrike" kern="1200" cap="none" spc="0" baseline="0">
          <a:solidFill>
            <a:srgbClr val="FFFFFF"/>
          </a:solidFill>
          <a:uFillTx/>
          <a:latin typeface="Corbel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979962B-8062-CB01-AFDB-A5225511EA20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60218" y="2090949"/>
            <a:ext cx="11471568" cy="1739344"/>
          </a:xfrm>
        </p:spPr>
        <p:txBody>
          <a:bodyPr/>
          <a:lstStyle/>
          <a:p>
            <a:pPr lvl="0"/>
            <a:r>
              <a:rPr lang="fr-FR" sz="4000" b="1">
                <a:solidFill>
                  <a:srgbClr val="002060"/>
                </a:solidFill>
              </a:rPr>
              <a:t>Etude sur l’accès à l’eau dans le monde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8199543-4BD5-87B9-4977-78DF17E8D2D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0859679" y="5702500"/>
            <a:ext cx="1206633" cy="1047088"/>
          </a:xfrm>
        </p:spPr>
        <p:txBody>
          <a:bodyPr anchorCtr="0"/>
          <a:lstStyle/>
          <a:p>
            <a:pPr lvl="0" algn="l"/>
            <a:r>
              <a:rPr lang="fr-FR" sz="1200" b="1" i="1"/>
              <a:t>Rémy Maupetit</a:t>
            </a:r>
          </a:p>
          <a:p>
            <a:pPr lvl="0" algn="l"/>
            <a:r>
              <a:rPr lang="fr-FR" sz="1200" b="1" i="1"/>
              <a:t>Data analyste </a:t>
            </a:r>
          </a:p>
          <a:p>
            <a:pPr lvl="0" algn="l"/>
            <a:r>
              <a:rPr lang="fr-FR" sz="1200" b="1" i="1"/>
              <a:t>Novembre 2025</a:t>
            </a:r>
          </a:p>
        </p:txBody>
      </p:sp>
      <p:pic>
        <p:nvPicPr>
          <p:cNvPr id="4" name="Image 4">
            <a:extLst>
              <a:ext uri="{FF2B5EF4-FFF2-40B4-BE49-F238E27FC236}">
                <a16:creationId xmlns:a16="http://schemas.microsoft.com/office/drawing/2014/main" id="{96591E04-DD88-7E7D-C031-37E373AAE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5519" y="307375"/>
            <a:ext cx="2320957" cy="1434437"/>
          </a:xfrm>
          <a:prstGeom prst="rect">
            <a:avLst/>
          </a:prstGeom>
          <a:noFill/>
          <a:ln w="57150" cap="sq">
            <a:solidFill>
              <a:srgbClr val="003399"/>
            </a:solidFill>
            <a:prstDash val="solid"/>
            <a:miter/>
          </a:ln>
        </p:spPr>
      </p:pic>
      <p:pic>
        <p:nvPicPr>
          <p:cNvPr id="5" name="Image 6">
            <a:extLst>
              <a:ext uri="{FF2B5EF4-FFF2-40B4-BE49-F238E27FC236}">
                <a16:creationId xmlns:a16="http://schemas.microsoft.com/office/drawing/2014/main" id="{55A77555-E5BD-4CEC-C4B2-D389E5DC5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0298" y="4025243"/>
            <a:ext cx="3211400" cy="2724345"/>
          </a:xfrm>
          <a:prstGeom prst="rect">
            <a:avLst/>
          </a:prstGeom>
          <a:noFill/>
          <a:ln w="38103" cap="sq">
            <a:solidFill>
              <a:srgbClr val="003399"/>
            </a:solidFill>
            <a:prstDash val="solid"/>
            <a:miter/>
          </a:ln>
          <a:effectLst>
            <a:outerShdw dist="38096" dir="2700000" algn="tl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773E39-EAE9-B074-5DFE-37C4863DFD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94749" y="244419"/>
            <a:ext cx="2800423" cy="1508760"/>
          </a:xfrm>
        </p:spPr>
        <p:txBody>
          <a:bodyPr/>
          <a:lstStyle/>
          <a:p>
            <a:pPr lvl="0"/>
            <a:r>
              <a:rPr lang="fr-FR" b="1">
                <a:solidFill>
                  <a:srgbClr val="002060"/>
                </a:solidFill>
              </a:rPr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0A866F-051B-08EC-C967-2FBE840BC5B7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202920" y="2407341"/>
            <a:ext cx="9784080" cy="4206240"/>
          </a:xfrm>
        </p:spPr>
        <p:txBody>
          <a:bodyPr/>
          <a:lstStyle/>
          <a:p>
            <a:pPr lvl="0"/>
            <a:r>
              <a:rPr lang="fr-FR" b="1" dirty="0">
                <a:latin typeface="Carlito" pitchFamily="34"/>
                <a:cs typeface="Carlito" pitchFamily="34"/>
              </a:rPr>
              <a:t>Introduction et contexte (pages 3 et 4)</a:t>
            </a:r>
          </a:p>
          <a:p>
            <a:pPr lvl="0"/>
            <a:r>
              <a:rPr lang="fr-FR" b="1" dirty="0">
                <a:latin typeface="Carlito" pitchFamily="34"/>
                <a:cs typeface="Carlito" pitchFamily="34"/>
              </a:rPr>
              <a:t>La tableau de bord avec Microsoft Power BI (pages 5 et 6)</a:t>
            </a:r>
          </a:p>
          <a:p>
            <a:pPr lvl="0"/>
            <a:r>
              <a:rPr lang="fr-FR" b="1" dirty="0">
                <a:latin typeface="Carlito" pitchFamily="34"/>
                <a:cs typeface="Carlito" pitchFamily="34"/>
              </a:rPr>
              <a:t>Le traitement des données (page 7)</a:t>
            </a:r>
          </a:p>
          <a:p>
            <a:pPr lvl="0"/>
            <a:r>
              <a:rPr lang="fr-FR" b="1" dirty="0">
                <a:latin typeface="Carlito" pitchFamily="34"/>
                <a:cs typeface="Carlito" pitchFamily="34"/>
              </a:rPr>
              <a:t>La composition du tableau de bord (page 8)</a:t>
            </a:r>
          </a:p>
          <a:p>
            <a:pPr lvl="0"/>
            <a:r>
              <a:rPr lang="fr-FR" b="1" dirty="0">
                <a:latin typeface="Carlito" pitchFamily="34"/>
                <a:cs typeface="Carlito" pitchFamily="34"/>
              </a:rPr>
              <a:t>Le croquis de pages du tableau de bord  (pages 9 à 11)</a:t>
            </a:r>
          </a:p>
          <a:p>
            <a:pPr lvl="0"/>
            <a:r>
              <a:rPr lang="fr-FR" b="1" dirty="0">
                <a:latin typeface="Carlito" pitchFamily="34"/>
                <a:cs typeface="Carlito" pitchFamily="34"/>
              </a:rPr>
              <a:t>Données et analyses issues du tableau de bord (pages 12 et 15)</a:t>
            </a:r>
          </a:p>
          <a:p>
            <a:pPr lvl="0"/>
            <a:r>
              <a:rPr lang="fr-FR" b="1" dirty="0">
                <a:latin typeface="Carlito" pitchFamily="34"/>
                <a:cs typeface="Carlito" pitchFamily="34"/>
              </a:rPr>
              <a:t>Conclusion (page 16)</a:t>
            </a:r>
          </a:p>
          <a:p>
            <a:pPr lvl="0"/>
            <a:endParaRPr lang="fr-FR" b="1" dirty="0">
              <a:latin typeface="Carlito" pitchFamily="34"/>
              <a:cs typeface="Carlito" pitchFamily="34"/>
            </a:endParaRPr>
          </a:p>
          <a:p>
            <a:pPr lvl="0"/>
            <a:endParaRPr lang="fr-FR" dirty="0"/>
          </a:p>
        </p:txBody>
      </p:sp>
      <p:pic>
        <p:nvPicPr>
          <p:cNvPr id="4" name="Image 4">
            <a:extLst>
              <a:ext uri="{FF2B5EF4-FFF2-40B4-BE49-F238E27FC236}">
                <a16:creationId xmlns:a16="http://schemas.microsoft.com/office/drawing/2014/main" id="{1947BC72-72D0-777C-0EA2-5D9A09EBB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524" y="6278352"/>
            <a:ext cx="640957" cy="39613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01CE609E-8C37-911C-A19E-11C00B45424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27381" y="2011680"/>
            <a:ext cx="11479697" cy="4206240"/>
          </a:xfrm>
        </p:spPr>
        <p:txBody>
          <a:bodyPr>
            <a:normAutofit/>
          </a:bodyPr>
          <a:lstStyle/>
          <a:p>
            <a:pPr lvl="0"/>
            <a:endParaRPr lang="fr-FR" dirty="0"/>
          </a:p>
          <a:p>
            <a:pPr lvl="0">
              <a:buClr>
                <a:srgbClr val="002060"/>
              </a:buClr>
              <a:buChar char="§"/>
            </a:pPr>
            <a:r>
              <a:rPr lang="fr-FR" sz="20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L’ONG</a:t>
            </a:r>
            <a:r>
              <a:rPr lang="fr-FR" sz="2000" b="1" dirty="0">
                <a:latin typeface="Carlito" pitchFamily="34"/>
                <a:cs typeface="Carlito" pitchFamily="34"/>
              </a:rPr>
              <a:t> </a:t>
            </a:r>
            <a:r>
              <a:rPr lang="fr-FR" sz="2000" b="1" dirty="0" err="1">
                <a:solidFill>
                  <a:srgbClr val="002060"/>
                </a:solidFill>
                <a:latin typeface="Carlito" pitchFamily="34"/>
                <a:cs typeface="Carlito" pitchFamily="34"/>
              </a:rPr>
              <a:t>Drinking</a:t>
            </a:r>
            <a:r>
              <a:rPr lang="fr-FR" sz="20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 Water For All </a:t>
            </a:r>
            <a:r>
              <a:rPr lang="fr-FR" sz="2000" b="1" dirty="0">
                <a:solidFill>
                  <a:schemeClr val="bg1"/>
                </a:solidFill>
                <a:latin typeface="Carlito" pitchFamily="34"/>
                <a:cs typeface="Carlito" pitchFamily="34"/>
              </a:rPr>
              <a:t>(DWFA)  </a:t>
            </a:r>
            <a:r>
              <a:rPr lang="fr-FR" sz="20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œuvre pour que tous les individus vivant sur terre aient accès à l’eau potable.</a:t>
            </a:r>
            <a:endParaRPr lang="fr-FR" sz="2000" dirty="0">
              <a:latin typeface="Carlito" pitchFamily="34"/>
              <a:cs typeface="Carlito" pitchFamily="34"/>
            </a:endParaRPr>
          </a:p>
          <a:p>
            <a:pPr lvl="0">
              <a:buClr>
                <a:srgbClr val="002060"/>
              </a:buClr>
              <a:buChar char="§"/>
            </a:pPr>
            <a:r>
              <a:rPr lang="fr-FR" sz="2000" b="1" dirty="0">
                <a:latin typeface="Carlito" pitchFamily="34"/>
                <a:cs typeface="Carlito" pitchFamily="34"/>
              </a:rPr>
              <a:t>DWFA</a:t>
            </a:r>
            <a:r>
              <a:rPr lang="fr-FR" sz="2000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  </a:t>
            </a:r>
            <a:r>
              <a:rPr lang="fr-FR" sz="20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est spécialisée dans trois domaines d’expertise:</a:t>
            </a:r>
          </a:p>
          <a:p>
            <a:pPr lvl="0">
              <a:buClr>
                <a:srgbClr val="002060"/>
              </a:buClr>
              <a:buChar char="Ø"/>
            </a:pPr>
            <a:r>
              <a:rPr lang="fr-FR" sz="2000" b="1" dirty="0">
                <a:latin typeface="Carlito" pitchFamily="34"/>
                <a:cs typeface="Carlito" pitchFamily="34"/>
              </a:rPr>
              <a:t> La création de services d’accès à l’eau</a:t>
            </a:r>
          </a:p>
          <a:p>
            <a:pPr lvl="0">
              <a:buClr>
                <a:srgbClr val="002060"/>
              </a:buClr>
              <a:buChar char="Ø"/>
            </a:pPr>
            <a:r>
              <a:rPr lang="fr-FR" sz="2000" b="1" dirty="0">
                <a:latin typeface="Carlito" pitchFamily="34"/>
                <a:cs typeface="Carlito" pitchFamily="34"/>
              </a:rPr>
              <a:t> La modernisation des services d’eau existants </a:t>
            </a:r>
          </a:p>
          <a:p>
            <a:pPr lvl="0">
              <a:buClr>
                <a:srgbClr val="002060"/>
              </a:buClr>
              <a:buChar char="Ø"/>
            </a:pPr>
            <a:r>
              <a:rPr lang="fr-FR" sz="2000" b="1" dirty="0">
                <a:latin typeface="Carlito" pitchFamily="34"/>
                <a:cs typeface="Carlito" pitchFamily="34"/>
              </a:rPr>
              <a:t> Le  Conseil des autorités nationales concernant les politiques  d’accès à l’eau</a:t>
            </a:r>
            <a:endParaRPr lang="fr-FR" dirty="0"/>
          </a:p>
          <a:p>
            <a:pPr lvl="0">
              <a:buClr>
                <a:srgbClr val="002060"/>
              </a:buClr>
              <a:buChar char="§"/>
            </a:pPr>
            <a:r>
              <a:rPr lang="fr-FR" sz="20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Une demande de financement a été effectuée auprès d’un bailleur de fonds pour améliorer l’accès à l’eau des populations</a:t>
            </a:r>
            <a:endParaRPr lang="fr-FR" sz="2000" dirty="0">
              <a:solidFill>
                <a:srgbClr val="002060"/>
              </a:solidFill>
              <a:latin typeface="Carlito" pitchFamily="34"/>
              <a:cs typeface="Carlito" pitchFamily="34"/>
            </a:endParaRPr>
          </a:p>
          <a:p>
            <a:pPr lvl="0">
              <a:buClr>
                <a:srgbClr val="002060"/>
              </a:buClr>
              <a:buChar char="§"/>
            </a:pPr>
            <a:r>
              <a:rPr lang="fr-FR" sz="2000" b="1" dirty="0">
                <a:latin typeface="Carlito" pitchFamily="34"/>
                <a:cs typeface="Carlito" pitchFamily="34"/>
              </a:rPr>
              <a:t>L’étude devra définir pour quels domaines d’expertise et dans quel pays  les fonds seront utilisés </a:t>
            </a:r>
          </a:p>
          <a:p>
            <a:pPr lvl="0"/>
            <a:endParaRPr lang="fr-FR" dirty="0"/>
          </a:p>
        </p:txBody>
      </p:sp>
      <p:pic>
        <p:nvPicPr>
          <p:cNvPr id="4" name="Image 4">
            <a:extLst>
              <a:ext uri="{FF2B5EF4-FFF2-40B4-BE49-F238E27FC236}">
                <a16:creationId xmlns:a16="http://schemas.microsoft.com/office/drawing/2014/main" id="{65E11977-453E-EB9D-84DE-5BDBB9B49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6746" y="6309597"/>
            <a:ext cx="640957" cy="39613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B4CF636D-184B-4107-0EAB-5E18129B39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02920" y="284177"/>
            <a:ext cx="9784080" cy="1508760"/>
          </a:xfrm>
        </p:spPr>
        <p:txBody>
          <a:bodyPr anchorCtr="1"/>
          <a:lstStyle/>
          <a:p>
            <a:pPr lvl="0" algn="ctr"/>
            <a:r>
              <a:rPr lang="fr-FR" b="1" dirty="0">
                <a:solidFill>
                  <a:srgbClr val="002060"/>
                </a:solidFill>
              </a:rPr>
              <a:t>Pourquoi cette étude?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DE70684-D9BF-0FF0-EF5F-39104E94B6B6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r>
              <a:rPr lang="fr-FR" b="1">
                <a:solidFill>
                  <a:srgbClr val="002060"/>
                </a:solidFill>
              </a:rPr>
              <a:t>Comment REALISER cette étude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38189AB-A08D-362B-8877-842E0F378E85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67744" y="2011680"/>
            <a:ext cx="11539325" cy="4206240"/>
          </a:xfrm>
        </p:spPr>
        <p:txBody>
          <a:bodyPr/>
          <a:lstStyle/>
          <a:p>
            <a:pPr lvl="0"/>
            <a:endParaRPr lang="fr-FR" dirty="0"/>
          </a:p>
          <a:p>
            <a:pPr lvl="0">
              <a:buClr>
                <a:srgbClr val="002060"/>
              </a:buClr>
              <a:buChar char="§"/>
            </a:pPr>
            <a:r>
              <a:rPr lang="fr-FR" b="1" dirty="0">
                <a:latin typeface="Carlito" pitchFamily="34"/>
                <a:cs typeface="Carlito" pitchFamily="34"/>
              </a:rPr>
              <a:t>En réalisant et en utilisant  un tableau de bord  affichant des indicateurs représentatifs  des  domaines d’expertise.</a:t>
            </a:r>
          </a:p>
          <a:p>
            <a:pPr lvl="0"/>
            <a:endParaRPr lang="fr-FR" dirty="0">
              <a:latin typeface="Carlito" pitchFamily="34"/>
              <a:cs typeface="Carlito" pitchFamily="34"/>
            </a:endParaRPr>
          </a:p>
          <a:p>
            <a:pPr lvl="0">
              <a:buClr>
                <a:srgbClr val="002060"/>
              </a:buClr>
              <a:buChar char="§"/>
            </a:pPr>
            <a:r>
              <a:rPr lang="fr-FR" b="1" dirty="0">
                <a:latin typeface="Carlito" pitchFamily="34"/>
                <a:cs typeface="Carlito" pitchFamily="34"/>
              </a:rPr>
              <a:t>En identifiant les pays dont les populations ont  des difficultés d’accès à l’eau</a:t>
            </a:r>
          </a:p>
          <a:p>
            <a:pPr lvl="0"/>
            <a:endParaRPr lang="fr-FR" dirty="0">
              <a:latin typeface="Carlito" pitchFamily="34"/>
              <a:cs typeface="Carlito" pitchFamily="34"/>
            </a:endParaRPr>
          </a:p>
          <a:p>
            <a:pPr lvl="0">
              <a:buClr>
                <a:srgbClr val="002060"/>
              </a:buClr>
              <a:buChar char="§"/>
            </a:pPr>
            <a:r>
              <a:rPr lang="fr-FR" dirty="0">
                <a:latin typeface="Carlito" pitchFamily="34"/>
                <a:cs typeface="Carlito" pitchFamily="34"/>
              </a:rPr>
              <a:t> </a:t>
            </a:r>
            <a:r>
              <a:rPr lang="fr-FR" b="1" dirty="0">
                <a:latin typeface="Carlito" pitchFamily="34"/>
                <a:cs typeface="Carlito" pitchFamily="34"/>
              </a:rPr>
              <a:t>En détectant les pays sur </a:t>
            </a:r>
            <a:r>
              <a:rPr lang="fr-FR" b="1" dirty="0" err="1">
                <a:latin typeface="Carlito" pitchFamily="34"/>
                <a:cs typeface="Carlito" pitchFamily="34"/>
              </a:rPr>
              <a:t>lequels</a:t>
            </a:r>
            <a:r>
              <a:rPr lang="fr-FR" b="1" dirty="0">
                <a:latin typeface="Carlito" pitchFamily="34"/>
                <a:cs typeface="Carlito" pitchFamily="34"/>
              </a:rPr>
              <a:t> DWFA devra concentrer ses efforts</a:t>
            </a:r>
          </a:p>
          <a:p>
            <a:pPr lvl="0"/>
            <a:endParaRPr lang="fr-FR" dirty="0"/>
          </a:p>
          <a:p>
            <a:pPr lvl="0"/>
            <a:endParaRPr lang="fr-FR" dirty="0"/>
          </a:p>
        </p:txBody>
      </p:sp>
      <p:pic>
        <p:nvPicPr>
          <p:cNvPr id="4" name="Image 4">
            <a:extLst>
              <a:ext uri="{FF2B5EF4-FFF2-40B4-BE49-F238E27FC236}">
                <a16:creationId xmlns:a16="http://schemas.microsoft.com/office/drawing/2014/main" id="{D541C32A-7A82-FE73-3324-CEC137137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524" y="6278352"/>
            <a:ext cx="640957" cy="39613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1DD06F0-05CC-C998-A17D-F548CE89BFC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r>
              <a:rPr lang="fr-FR" b="1">
                <a:solidFill>
                  <a:srgbClr val="002060"/>
                </a:solidFill>
              </a:rPr>
              <a:t>ELABORATION DU TABLEAU DE BORD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555B10-C353-DF1D-68F1-F97AC5908C8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77683" y="2011680"/>
            <a:ext cx="11300795" cy="4206240"/>
          </a:xfrm>
        </p:spPr>
        <p:txBody>
          <a:bodyPr/>
          <a:lstStyle/>
          <a:p>
            <a:pPr lvl="0">
              <a:buClr>
                <a:srgbClr val="002060"/>
              </a:buClr>
              <a:buChar char="§"/>
            </a:pPr>
            <a:r>
              <a:rPr lang="fr-FR" sz="2000" b="1" u="sng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Sources utilisées:</a:t>
            </a:r>
            <a:r>
              <a:rPr lang="fr-FR" sz="20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  </a:t>
            </a:r>
            <a:r>
              <a:rPr lang="fr-FR" sz="2000" b="1" dirty="0">
                <a:latin typeface="Carlito" pitchFamily="34"/>
                <a:cs typeface="Carlito" pitchFamily="34"/>
              </a:rPr>
              <a:t> 5 fichiers csv </a:t>
            </a:r>
          </a:p>
          <a:p>
            <a:pPr marL="0" lvl="0" indent="0">
              <a:buNone/>
            </a:pPr>
            <a:r>
              <a:rPr lang="fr-FR" sz="20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-</a:t>
            </a:r>
            <a:r>
              <a:rPr lang="fr-FR" sz="2000" b="1" dirty="0">
                <a:latin typeface="Carlito" pitchFamily="34"/>
                <a:cs typeface="Carlito" pitchFamily="34"/>
              </a:rPr>
              <a:t> La localisation des pays </a:t>
            </a:r>
          </a:p>
          <a:p>
            <a:pPr marL="0" lvl="0" indent="0">
              <a:buNone/>
            </a:pPr>
            <a:r>
              <a:rPr lang="fr-FR" sz="20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- </a:t>
            </a:r>
            <a:r>
              <a:rPr lang="fr-FR" sz="2000" b="1" dirty="0">
                <a:latin typeface="Carlito" pitchFamily="34"/>
                <a:cs typeface="Carlito" pitchFamily="34"/>
              </a:rPr>
              <a:t>Les populations des pays</a:t>
            </a:r>
          </a:p>
          <a:p>
            <a:pPr marL="0" lvl="0" indent="0">
              <a:buNone/>
            </a:pPr>
            <a:r>
              <a:rPr lang="fr-FR" sz="20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-</a:t>
            </a:r>
            <a:r>
              <a:rPr lang="fr-FR" sz="2000" b="1" dirty="0">
                <a:latin typeface="Carlito" pitchFamily="34"/>
                <a:cs typeface="Carlito" pitchFamily="34"/>
              </a:rPr>
              <a:t> La stabilité politique des pays</a:t>
            </a:r>
          </a:p>
          <a:p>
            <a:pPr marL="0" lvl="0" indent="0">
              <a:buNone/>
            </a:pPr>
            <a:r>
              <a:rPr lang="fr-FR" sz="20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-</a:t>
            </a:r>
            <a:r>
              <a:rPr lang="fr-FR" sz="2000" b="1" dirty="0">
                <a:latin typeface="Carlito" pitchFamily="34"/>
                <a:cs typeface="Carlito" pitchFamily="34"/>
              </a:rPr>
              <a:t> L’accès des populations aux différents services d’eau</a:t>
            </a:r>
          </a:p>
          <a:p>
            <a:pPr marL="0" lvl="0" indent="0">
              <a:buNone/>
            </a:pPr>
            <a:r>
              <a:rPr lang="fr-FR" sz="20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-</a:t>
            </a:r>
            <a:r>
              <a:rPr lang="fr-FR" sz="2000" b="1" dirty="0">
                <a:latin typeface="Carlito" pitchFamily="34"/>
                <a:cs typeface="Carlito" pitchFamily="34"/>
              </a:rPr>
              <a:t> La mortalité imputée à l’eau par pays</a:t>
            </a:r>
          </a:p>
          <a:p>
            <a:pPr lvl="0"/>
            <a:endParaRPr lang="fr-FR" sz="2000" dirty="0">
              <a:latin typeface="Carlito" pitchFamily="34"/>
              <a:cs typeface="Carlito" pitchFamily="34"/>
            </a:endParaRPr>
          </a:p>
          <a:p>
            <a:pPr lvl="0">
              <a:buClr>
                <a:srgbClr val="002060"/>
              </a:buClr>
              <a:buChar char="§"/>
            </a:pPr>
            <a:r>
              <a:rPr lang="fr-FR" sz="2000" b="1" u="sng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Logiciel utilisé:</a:t>
            </a:r>
            <a:r>
              <a:rPr lang="fr-FR" sz="20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 </a:t>
            </a:r>
            <a:r>
              <a:rPr lang="fr-FR" sz="2000" b="1" dirty="0">
                <a:latin typeface="Carlito" pitchFamily="34"/>
                <a:cs typeface="Carlito" pitchFamily="34"/>
              </a:rPr>
              <a:t>Microsoft Power BI </a:t>
            </a:r>
          </a:p>
          <a:p>
            <a:pPr lvl="0"/>
            <a:endParaRPr lang="fr-FR" dirty="0"/>
          </a:p>
          <a:p>
            <a:pPr lvl="0"/>
            <a:endParaRPr lang="fr-FR" dirty="0"/>
          </a:p>
        </p:txBody>
      </p:sp>
      <p:pic>
        <p:nvPicPr>
          <p:cNvPr id="4" name="Image 4">
            <a:extLst>
              <a:ext uri="{FF2B5EF4-FFF2-40B4-BE49-F238E27FC236}">
                <a16:creationId xmlns:a16="http://schemas.microsoft.com/office/drawing/2014/main" id="{40CFFD19-D7B3-33BE-3CDE-E5A49B03C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524" y="6278352"/>
            <a:ext cx="640957" cy="39613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29EA08-0FE9-9B30-82AF-EC7FB2AD5E1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r>
              <a:rPr lang="fr-FR" b="1">
                <a:solidFill>
                  <a:srgbClr val="002060"/>
                </a:solidFill>
              </a:rPr>
              <a:t>POURQUOI UTILISER  PoWER BI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4E1C13-D14E-8B82-2ABB-680E30E45FDD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77683" y="2011680"/>
            <a:ext cx="11300795" cy="4206240"/>
          </a:xfrm>
        </p:spPr>
        <p:txBody>
          <a:bodyPr/>
          <a:lstStyle/>
          <a:p>
            <a:pPr lvl="0">
              <a:lnSpc>
                <a:spcPct val="70000"/>
              </a:lnSpc>
              <a:buClr>
                <a:srgbClr val="002060"/>
              </a:buClr>
              <a:buChar char="§"/>
            </a:pPr>
            <a:r>
              <a:rPr lang="fr-FR" sz="17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Power BI intègre facilement des données  :</a:t>
            </a:r>
          </a:p>
          <a:p>
            <a:pPr marL="0" lvl="0" indent="0">
              <a:lnSpc>
                <a:spcPct val="70000"/>
              </a:lnSpc>
              <a:buNone/>
            </a:pPr>
            <a:r>
              <a:rPr lang="fr-FR" sz="1700" b="1" dirty="0">
                <a:latin typeface="Carlito" pitchFamily="34"/>
                <a:cs typeface="Carlito" pitchFamily="34"/>
              </a:rPr>
              <a:t>Le traitements des données est facilité grâce à  Power </a:t>
            </a:r>
            <a:r>
              <a:rPr lang="fr-FR" sz="1700" b="1" dirty="0" err="1">
                <a:latin typeface="Carlito" pitchFamily="34"/>
                <a:cs typeface="Carlito" pitchFamily="34"/>
              </a:rPr>
              <a:t>Query</a:t>
            </a:r>
            <a:endParaRPr lang="fr-FR" sz="1700" b="1" dirty="0">
              <a:latin typeface="Carlito" pitchFamily="34"/>
              <a:cs typeface="Carlito" pitchFamily="34"/>
            </a:endParaRPr>
          </a:p>
          <a:p>
            <a:pPr lvl="0">
              <a:lnSpc>
                <a:spcPct val="70000"/>
              </a:lnSpc>
              <a:buClr>
                <a:srgbClr val="002060"/>
              </a:buClr>
              <a:buChar char="§"/>
            </a:pPr>
            <a:r>
              <a:rPr lang="fr-FR" sz="17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Il permet la réalisation d’analyses avancées :</a:t>
            </a:r>
          </a:p>
          <a:p>
            <a:pPr marL="0" lvl="0" indent="0">
              <a:lnSpc>
                <a:spcPct val="70000"/>
              </a:lnSpc>
              <a:buNone/>
            </a:pPr>
            <a:r>
              <a:rPr lang="fr-FR" sz="1700" b="1" dirty="0">
                <a:latin typeface="Carlito" pitchFamily="34"/>
                <a:cs typeface="Carlito" pitchFamily="34"/>
              </a:rPr>
              <a:t>Le langage DAX permet d’effectuer des calculs personnalisés adaptés aux enjeux du projet </a:t>
            </a:r>
          </a:p>
          <a:p>
            <a:pPr lvl="0">
              <a:lnSpc>
                <a:spcPct val="70000"/>
              </a:lnSpc>
              <a:buClr>
                <a:srgbClr val="002060"/>
              </a:buClr>
              <a:buChar char="§"/>
            </a:pPr>
            <a:r>
              <a:rPr lang="fr-FR" sz="17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Visualisations interactives</a:t>
            </a:r>
          </a:p>
          <a:p>
            <a:pPr marL="0" lvl="0" indent="0">
              <a:lnSpc>
                <a:spcPct val="70000"/>
              </a:lnSpc>
              <a:buNone/>
            </a:pPr>
            <a:r>
              <a:rPr lang="fr-FR" sz="1700" b="1" dirty="0">
                <a:latin typeface="Carlito" pitchFamily="34"/>
                <a:cs typeface="Carlito" pitchFamily="34"/>
              </a:rPr>
              <a:t>Power BI offre des visualisation </a:t>
            </a:r>
            <a:r>
              <a:rPr lang="fr-FR" sz="1700" b="1" dirty="0" err="1">
                <a:latin typeface="Carlito" pitchFamily="34"/>
                <a:cs typeface="Carlito" pitchFamily="34"/>
              </a:rPr>
              <a:t>sdynamiques</a:t>
            </a:r>
            <a:r>
              <a:rPr lang="fr-FR" sz="1700" b="1" dirty="0">
                <a:latin typeface="Carlito" pitchFamily="34"/>
                <a:cs typeface="Carlito" pitchFamily="34"/>
              </a:rPr>
              <a:t> grâce aux filtres  et aux segments de sélection qui rendent les données intuitives et facilitent l’identification des points importants de l’étude</a:t>
            </a:r>
          </a:p>
          <a:p>
            <a:pPr lvl="0">
              <a:lnSpc>
                <a:spcPct val="70000"/>
              </a:lnSpc>
              <a:buClr>
                <a:srgbClr val="002060"/>
              </a:buClr>
              <a:buChar char="§"/>
            </a:pPr>
            <a:r>
              <a:rPr lang="fr-FR" sz="17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Power BI permet la mise à jour automatique des données </a:t>
            </a:r>
          </a:p>
          <a:p>
            <a:pPr marL="0" lvl="0" indent="0">
              <a:lnSpc>
                <a:spcPct val="70000"/>
              </a:lnSpc>
              <a:buNone/>
            </a:pPr>
            <a:r>
              <a:rPr lang="fr-FR" sz="1700" b="1" dirty="0">
                <a:latin typeface="Carlito" pitchFamily="34"/>
                <a:cs typeface="Carlito" pitchFamily="34"/>
              </a:rPr>
              <a:t>Les traitements effectués avec Power </a:t>
            </a:r>
            <a:r>
              <a:rPr lang="fr-FR" sz="1700" b="1" dirty="0" err="1">
                <a:latin typeface="Carlito" pitchFamily="34"/>
                <a:cs typeface="Carlito" pitchFamily="34"/>
              </a:rPr>
              <a:t>Query</a:t>
            </a:r>
            <a:r>
              <a:rPr lang="fr-FR" sz="1700" b="1" dirty="0">
                <a:latin typeface="Carlito" pitchFamily="34"/>
                <a:cs typeface="Carlito" pitchFamily="34"/>
              </a:rPr>
              <a:t> sont automatiquement réappliqués aux nouvelles données  si le  nouveau fichier importé a une structure identique au fichier source</a:t>
            </a:r>
          </a:p>
          <a:p>
            <a:pPr lvl="0">
              <a:lnSpc>
                <a:spcPct val="70000"/>
              </a:lnSpc>
              <a:buClr>
                <a:srgbClr val="002060"/>
              </a:buClr>
              <a:buChar char="§"/>
            </a:pPr>
            <a:r>
              <a:rPr lang="fr-FR" sz="17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L’accessibilité et l’ergonomie de Power BI rendent l’interface du tableau de Bord simple d’utilisation</a:t>
            </a:r>
          </a:p>
          <a:p>
            <a:pPr marL="0" lvl="0" indent="0">
              <a:lnSpc>
                <a:spcPct val="70000"/>
              </a:lnSpc>
              <a:buNone/>
            </a:pPr>
            <a:r>
              <a:rPr lang="fr-FR" sz="1700" b="1" dirty="0">
                <a:latin typeface="Carlito" pitchFamily="34"/>
                <a:cs typeface="Carlito" pitchFamily="34"/>
              </a:rPr>
              <a:t>Les utilisateurs sans compétences techniques avancées peuvent naviguer et consulter facilement les différentes pages du tableau de bord</a:t>
            </a:r>
          </a:p>
          <a:p>
            <a:pPr lvl="0">
              <a:lnSpc>
                <a:spcPct val="70000"/>
              </a:lnSpc>
            </a:pPr>
            <a:endParaRPr lang="fr-FR" sz="1700" dirty="0">
              <a:latin typeface="Carlito" pitchFamily="34"/>
              <a:cs typeface="Carlito" pitchFamily="34"/>
            </a:endParaRPr>
          </a:p>
          <a:p>
            <a:pPr lvl="0">
              <a:lnSpc>
                <a:spcPct val="70000"/>
              </a:lnSpc>
            </a:pPr>
            <a:endParaRPr lang="fr-FR" sz="1900" dirty="0"/>
          </a:p>
          <a:p>
            <a:pPr lvl="0">
              <a:lnSpc>
                <a:spcPct val="70000"/>
              </a:lnSpc>
            </a:pPr>
            <a:endParaRPr lang="fr-FR" sz="1900" dirty="0"/>
          </a:p>
        </p:txBody>
      </p:sp>
      <p:pic>
        <p:nvPicPr>
          <p:cNvPr id="4" name="Image 4">
            <a:extLst>
              <a:ext uri="{FF2B5EF4-FFF2-40B4-BE49-F238E27FC236}">
                <a16:creationId xmlns:a16="http://schemas.microsoft.com/office/drawing/2014/main" id="{77EEAF20-DFFB-6DC9-C2E4-F5292E231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524" y="6278352"/>
            <a:ext cx="640957" cy="39613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593AFE-53FE-2CFD-95AA-224FAC97383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r>
              <a:rPr lang="fr-FR" b="1">
                <a:solidFill>
                  <a:srgbClr val="002060"/>
                </a:solidFill>
              </a:rPr>
              <a:t>Traitements des données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370649F-25B2-6D8A-B2C7-1595E9DE1BA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67139" y="2011680"/>
            <a:ext cx="11032437" cy="4206240"/>
          </a:xfrm>
        </p:spPr>
        <p:txBody>
          <a:bodyPr/>
          <a:lstStyle/>
          <a:p>
            <a:pPr marL="0" lvl="0" indent="0">
              <a:lnSpc>
                <a:spcPct val="80000"/>
              </a:lnSpc>
              <a:buNone/>
            </a:pPr>
            <a:r>
              <a:rPr lang="fr-FR" sz="1800" b="1" dirty="0">
                <a:latin typeface="Carlito" pitchFamily="34"/>
                <a:cs typeface="Carlito" pitchFamily="34"/>
              </a:rPr>
              <a:t>Pour permettre une meilleur exploitation des données les actions suivantes ont été effectuées avec </a:t>
            </a:r>
            <a:r>
              <a:rPr lang="fr-FR" sz="18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Power </a:t>
            </a:r>
            <a:r>
              <a:rPr lang="fr-FR" sz="1800" b="1" dirty="0" err="1">
                <a:solidFill>
                  <a:srgbClr val="002060"/>
                </a:solidFill>
                <a:latin typeface="Carlito" pitchFamily="34"/>
                <a:cs typeface="Carlito" pitchFamily="34"/>
              </a:rPr>
              <a:t>query</a:t>
            </a:r>
            <a:r>
              <a:rPr lang="fr-FR" sz="18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 </a:t>
            </a:r>
            <a:r>
              <a:rPr lang="fr-FR" sz="1800" b="1" dirty="0">
                <a:latin typeface="Carlito" pitchFamily="34"/>
                <a:cs typeface="Carlito" pitchFamily="34"/>
              </a:rPr>
              <a:t>:</a:t>
            </a:r>
          </a:p>
          <a:p>
            <a:pPr marL="0" lvl="0" indent="0">
              <a:lnSpc>
                <a:spcPct val="80000"/>
              </a:lnSpc>
              <a:buNone/>
            </a:pPr>
            <a:endParaRPr lang="fr-FR" sz="1000" b="1" dirty="0">
              <a:solidFill>
                <a:srgbClr val="002060"/>
              </a:solidFill>
              <a:latin typeface="Carlito" pitchFamily="34"/>
              <a:cs typeface="Carlito" pitchFamily="34"/>
            </a:endParaRPr>
          </a:p>
          <a:p>
            <a:pPr lvl="0">
              <a:lnSpc>
                <a:spcPct val="80000"/>
              </a:lnSpc>
              <a:buClr>
                <a:srgbClr val="002060"/>
              </a:buClr>
              <a:buFont typeface="Arial" pitchFamily="34"/>
              <a:buChar char="•"/>
            </a:pPr>
            <a:r>
              <a:rPr lang="fr-FR" sz="1800" b="1" dirty="0">
                <a:latin typeface="Carlito" pitchFamily="34"/>
                <a:cs typeface="Carlito" pitchFamily="34"/>
              </a:rPr>
              <a:t>Les noms des colonnes de la table </a:t>
            </a:r>
            <a:r>
              <a:rPr lang="fr-FR" sz="1800" b="1" dirty="0" err="1">
                <a:solidFill>
                  <a:srgbClr val="002060"/>
                </a:solidFill>
                <a:latin typeface="Carlito" pitchFamily="34"/>
                <a:cs typeface="Carlito" pitchFamily="34"/>
              </a:rPr>
              <a:t>RegionCountry</a:t>
            </a:r>
            <a:r>
              <a:rPr lang="fr-FR" sz="1800" b="1" dirty="0">
                <a:latin typeface="Carlito" pitchFamily="34"/>
                <a:cs typeface="Carlito" pitchFamily="34"/>
              </a:rPr>
              <a:t> ont été harmonisées avec ceux des autres tables</a:t>
            </a:r>
          </a:p>
          <a:p>
            <a:pPr marL="0" lvl="0" indent="0">
              <a:lnSpc>
                <a:spcPct val="80000"/>
              </a:lnSpc>
              <a:buNone/>
            </a:pPr>
            <a:endParaRPr lang="fr-FR" sz="1000" dirty="0">
              <a:latin typeface="Carlito" pitchFamily="34"/>
              <a:cs typeface="Carlito" pitchFamily="34"/>
            </a:endParaRPr>
          </a:p>
          <a:p>
            <a:pPr lvl="0">
              <a:lnSpc>
                <a:spcPct val="80000"/>
              </a:lnSpc>
              <a:buClr>
                <a:srgbClr val="002060"/>
              </a:buClr>
              <a:buFont typeface="Arial" pitchFamily="34"/>
              <a:buChar char="•"/>
            </a:pPr>
            <a:r>
              <a:rPr lang="fr-FR" sz="1800" b="1" dirty="0">
                <a:latin typeface="Carlito" pitchFamily="34"/>
                <a:cs typeface="Carlito" pitchFamily="34"/>
              </a:rPr>
              <a:t>Les types de données des tableaux ont été modifiés </a:t>
            </a:r>
            <a:r>
              <a:rPr lang="fr-FR" sz="1800" b="1" i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(par exemple, les années de Texte à Entier, mais également en tenant compte  des paramètres régionaux pour les chiffres décimaux )</a:t>
            </a:r>
          </a:p>
          <a:p>
            <a:pPr lvl="0">
              <a:lnSpc>
                <a:spcPct val="80000"/>
              </a:lnSpc>
              <a:buFont typeface="Arial" pitchFamily="34"/>
              <a:buChar char="•"/>
            </a:pPr>
            <a:endParaRPr lang="fr-FR" sz="1000" dirty="0">
              <a:latin typeface="Carlito" pitchFamily="34"/>
              <a:cs typeface="Carlito" pitchFamily="34"/>
            </a:endParaRPr>
          </a:p>
          <a:p>
            <a:pPr lvl="0">
              <a:lnSpc>
                <a:spcPct val="80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fr-FR" sz="1800" b="1" dirty="0">
                <a:latin typeface="Carlito" pitchFamily="34"/>
                <a:cs typeface="Carlito" pitchFamily="34"/>
              </a:rPr>
              <a:t>Les noms de certains pays ont été modifiés pour faire correspondre les données avec  le visuel de carte géographique </a:t>
            </a:r>
            <a:r>
              <a:rPr lang="fr-FR" sz="1800" b="1" i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(Iran , Bolivia, Venezuela, DRC, Republic of Congo) </a:t>
            </a:r>
            <a:r>
              <a:rPr lang="fr-FR" sz="1800" b="1" dirty="0">
                <a:latin typeface="Carlito" pitchFamily="34"/>
                <a:cs typeface="Carlito" pitchFamily="34"/>
              </a:rPr>
              <a:t>dans toutes les tables</a:t>
            </a:r>
          </a:p>
          <a:p>
            <a:pPr marL="0" lvl="0" indent="0">
              <a:lnSpc>
                <a:spcPct val="80000"/>
              </a:lnSpc>
              <a:buNone/>
            </a:pPr>
            <a:endParaRPr lang="fr-FR" sz="1000" dirty="0">
              <a:latin typeface="Carlito" pitchFamily="34"/>
              <a:cs typeface="Carlito" pitchFamily="34"/>
            </a:endParaRPr>
          </a:p>
          <a:p>
            <a:pPr lvl="0">
              <a:lnSpc>
                <a:spcPct val="80000"/>
              </a:lnSpc>
              <a:buClr>
                <a:srgbClr val="002060"/>
              </a:buClr>
              <a:buFont typeface="Arial" pitchFamily="34"/>
              <a:buChar char="•"/>
            </a:pPr>
            <a:r>
              <a:rPr lang="fr-FR" sz="1800" b="1" dirty="0">
                <a:latin typeface="Carlito" pitchFamily="34"/>
                <a:cs typeface="Carlito" pitchFamily="34"/>
              </a:rPr>
              <a:t>Les pays sans correspondance dans la table </a:t>
            </a:r>
            <a:r>
              <a:rPr lang="fr-FR" sz="1800" b="1" dirty="0" err="1">
                <a:solidFill>
                  <a:srgbClr val="002060"/>
                </a:solidFill>
                <a:latin typeface="Carlito" pitchFamily="34"/>
                <a:cs typeface="Carlito" pitchFamily="34"/>
              </a:rPr>
              <a:t>RegionCountry</a:t>
            </a:r>
            <a:r>
              <a:rPr lang="fr-FR" sz="1800" b="1" dirty="0">
                <a:latin typeface="Carlito" pitchFamily="34"/>
                <a:cs typeface="Carlito" pitchFamily="34"/>
              </a:rPr>
              <a:t> ont été filtrés dans l’ensemble des autres tables.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fr-FR" sz="1800" b="1" dirty="0">
                <a:latin typeface="Carlito" pitchFamily="34"/>
                <a:cs typeface="Carlito" pitchFamily="34"/>
              </a:rPr>
              <a:t>  </a:t>
            </a:r>
            <a:endParaRPr lang="fr-FR" sz="1800" b="1" dirty="0"/>
          </a:p>
          <a:p>
            <a:pPr lvl="0">
              <a:lnSpc>
                <a:spcPct val="80000"/>
              </a:lnSpc>
            </a:pPr>
            <a:endParaRPr lang="fr-FR" dirty="0"/>
          </a:p>
        </p:txBody>
      </p:sp>
      <p:pic>
        <p:nvPicPr>
          <p:cNvPr id="4" name="Image 4">
            <a:extLst>
              <a:ext uri="{FF2B5EF4-FFF2-40B4-BE49-F238E27FC236}">
                <a16:creationId xmlns:a16="http://schemas.microsoft.com/office/drawing/2014/main" id="{E4FA2244-2D0A-95A9-6222-2A998E85F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524" y="6278352"/>
            <a:ext cx="640957" cy="39613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10247F-310C-B1D1-A838-B0C2167FAD69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 anchorCtr="1"/>
          <a:lstStyle/>
          <a:p>
            <a:pPr lvl="0" algn="ctr"/>
            <a:r>
              <a:rPr lang="fr-FR" b="1">
                <a:solidFill>
                  <a:srgbClr val="002060"/>
                </a:solidFill>
              </a:rPr>
              <a:t>COMPOSITION  DU TABLEAU DE BORD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4A8B89-4409-1B25-C036-E90D4568CE4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92521" y="4028186"/>
            <a:ext cx="4344441" cy="1932249"/>
          </a:xfrm>
        </p:spPr>
        <p:txBody>
          <a:bodyPr>
            <a:normAutofit/>
          </a:bodyPr>
          <a:lstStyle/>
          <a:p>
            <a:pPr lvl="0">
              <a:lnSpc>
                <a:spcPct val="70000"/>
              </a:lnSpc>
              <a:buClr>
                <a:srgbClr val="002060"/>
              </a:buClr>
              <a:buChar char="§"/>
            </a:pPr>
            <a:r>
              <a:rPr lang="fr-FR" sz="1600" b="1" u="sng" dirty="0">
                <a:latin typeface="Carlito" pitchFamily="34"/>
                <a:cs typeface="Carlito" pitchFamily="34"/>
              </a:rPr>
              <a:t>Indicateurs pour les 3 pages de situation:</a:t>
            </a:r>
          </a:p>
          <a:p>
            <a:pPr lvl="0">
              <a:lnSpc>
                <a:spcPct val="70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fr-FR" sz="1600" b="1" dirty="0">
                <a:latin typeface="Carlito" pitchFamily="34"/>
                <a:cs typeface="Carlito" pitchFamily="34"/>
              </a:rPr>
              <a:t>Population  en 2016 </a:t>
            </a:r>
          </a:p>
          <a:p>
            <a:pPr lvl="0">
              <a:lnSpc>
                <a:spcPct val="70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fr-FR" sz="1600" b="1" dirty="0">
                <a:latin typeface="Carlito" pitchFamily="34"/>
                <a:cs typeface="Carlito" pitchFamily="34"/>
              </a:rPr>
              <a:t>Taux de mortalité  lié à l’eau 2016</a:t>
            </a:r>
          </a:p>
          <a:p>
            <a:pPr lvl="0">
              <a:lnSpc>
                <a:spcPct val="70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fr-FR" sz="1600" b="1" dirty="0">
                <a:latin typeface="Carlito" pitchFamily="34"/>
                <a:cs typeface="Carlito" pitchFamily="34"/>
              </a:rPr>
              <a:t>Score de stabilité politique  en 2016</a:t>
            </a:r>
          </a:p>
          <a:p>
            <a:pPr lvl="0">
              <a:lnSpc>
                <a:spcPct val="70000"/>
              </a:lnSpc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fr-FR" sz="1600" b="1" dirty="0">
                <a:latin typeface="Carlito" pitchFamily="34"/>
                <a:cs typeface="Carlito" pitchFamily="34"/>
              </a:rPr>
              <a:t>% de la population ayant accès à l’eau en 2016</a:t>
            </a:r>
          </a:p>
          <a:p>
            <a:pPr marL="0" lvl="0" indent="0">
              <a:lnSpc>
                <a:spcPct val="70000"/>
              </a:lnSpc>
              <a:buClr>
                <a:srgbClr val="002060"/>
              </a:buClr>
              <a:buNone/>
            </a:pPr>
            <a:endParaRPr lang="fr-FR" sz="900" b="1" dirty="0">
              <a:latin typeface="Carlito" pitchFamily="34"/>
              <a:cs typeface="Carlito" pitchFamily="34"/>
            </a:endParaRPr>
          </a:p>
        </p:txBody>
      </p:sp>
      <p:pic>
        <p:nvPicPr>
          <p:cNvPr id="4" name="Image 4">
            <a:extLst>
              <a:ext uri="{FF2B5EF4-FFF2-40B4-BE49-F238E27FC236}">
                <a16:creationId xmlns:a16="http://schemas.microsoft.com/office/drawing/2014/main" id="{F41BB216-E582-00A6-4341-A99736FAB1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481" y="6221005"/>
            <a:ext cx="640957" cy="42078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A6D1031-04A4-BC78-29E7-83C86F93C4C2}"/>
              </a:ext>
            </a:extLst>
          </p:cNvPr>
          <p:cNvSpPr txBox="1"/>
          <p:nvPr/>
        </p:nvSpPr>
        <p:spPr>
          <a:xfrm>
            <a:off x="1463512" y="2565319"/>
            <a:ext cx="3794539" cy="1074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lnSpc>
                <a:spcPct val="70000"/>
              </a:lnSpc>
              <a:buFont typeface="+mj-lt"/>
              <a:buAutoNum type="arabicPeriod"/>
            </a:pPr>
            <a:r>
              <a:rPr lang="fr-FR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Accueil</a:t>
            </a:r>
          </a:p>
          <a:p>
            <a:pPr marL="342900" lvl="0" indent="-342900">
              <a:lnSpc>
                <a:spcPct val="70000"/>
              </a:lnSpc>
              <a:buFont typeface="+mj-lt"/>
              <a:buAutoNum type="arabicPeriod"/>
            </a:pPr>
            <a:r>
              <a:rPr lang="fr-FR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Situation mondiale</a:t>
            </a:r>
          </a:p>
          <a:p>
            <a:pPr marL="342900" lvl="0" indent="-342900">
              <a:lnSpc>
                <a:spcPct val="70000"/>
              </a:lnSpc>
              <a:buFont typeface="+mj-lt"/>
              <a:buAutoNum type="arabicPeriod"/>
            </a:pPr>
            <a:r>
              <a:rPr lang="fr-FR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Situation continentale</a:t>
            </a:r>
          </a:p>
          <a:p>
            <a:pPr marL="342900" lvl="0" indent="-342900">
              <a:lnSpc>
                <a:spcPct val="70000"/>
              </a:lnSpc>
              <a:buFont typeface="+mj-lt"/>
              <a:buAutoNum type="arabicPeriod"/>
            </a:pPr>
            <a:r>
              <a:rPr lang="fr-FR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Situation nationale</a:t>
            </a:r>
          </a:p>
          <a:p>
            <a:pPr marL="342900" lvl="0" indent="-342900">
              <a:lnSpc>
                <a:spcPct val="70000"/>
              </a:lnSpc>
              <a:buFont typeface="+mj-lt"/>
              <a:buAutoNum type="arabicPeriod"/>
            </a:pPr>
            <a:r>
              <a:rPr lang="fr-FR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Domaines d’expertise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63CCBBE-30EF-4FBD-E023-B28399D5F603}"/>
              </a:ext>
            </a:extLst>
          </p:cNvPr>
          <p:cNvSpPr txBox="1"/>
          <p:nvPr/>
        </p:nvSpPr>
        <p:spPr>
          <a:xfrm>
            <a:off x="418216" y="2029792"/>
            <a:ext cx="6097656" cy="298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lnSpc>
                <a:spcPct val="70000"/>
              </a:lnSpc>
              <a:buNone/>
            </a:pPr>
            <a:r>
              <a:rPr lang="fr-FR" b="1" dirty="0">
                <a:solidFill>
                  <a:schemeClr val="bg1"/>
                </a:solidFill>
                <a:latin typeface="Carlito" pitchFamily="34"/>
                <a:cs typeface="Carlito" pitchFamily="34"/>
              </a:rPr>
              <a:t>Le tableau de bord est composé de 5 pages: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E275C1AC-C969-1BB8-3AB7-6352B44880B4}"/>
              </a:ext>
            </a:extLst>
          </p:cNvPr>
          <p:cNvSpPr txBox="1">
            <a:spLocks/>
          </p:cNvSpPr>
          <p:nvPr/>
        </p:nvSpPr>
        <p:spPr>
          <a:xfrm>
            <a:off x="5896177" y="3009821"/>
            <a:ext cx="5991023" cy="2950614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182880" marR="0" lvl="0" indent="-182880" algn="l" defTabSz="914400" rtl="0" fontAlgn="auto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rgbClr val="FFFFFF"/>
              </a:buClr>
              <a:buSzPct val="100000"/>
              <a:buFont typeface="Wingdings" pitchFamily="2"/>
              <a:buChar char=""/>
              <a:tabLst/>
              <a:defRPr lang="fr-FR" sz="2200" b="0" i="0" u="none" strike="noStrike" kern="1200" cap="none" spc="0" baseline="0">
                <a:solidFill>
                  <a:srgbClr val="FFFFFF"/>
                </a:solidFill>
                <a:uFillTx/>
                <a:latin typeface="Corbel"/>
              </a:defRPr>
            </a:lvl1pPr>
            <a:lvl2pPr marL="411480" marR="0" lvl="1" indent="-182880" algn="l" defTabSz="914400" rtl="0" fontAlgn="auto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FFFFFF"/>
              </a:buClr>
              <a:buSzPct val="100000"/>
              <a:buFont typeface="Wingdings" pitchFamily="2"/>
              <a:buChar char=""/>
              <a:tabLst/>
              <a:defRPr lang="fr-FR" sz="2000" b="0" i="0" u="none" strike="noStrike" kern="1200" cap="none" spc="0" baseline="0">
                <a:solidFill>
                  <a:srgbClr val="FFFFFF"/>
                </a:solidFill>
                <a:uFillTx/>
                <a:latin typeface="Corbel"/>
              </a:defRPr>
            </a:lvl2pPr>
            <a:lvl3pPr marL="640080" marR="0" lvl="2" indent="-182880" algn="l" defTabSz="914400" rtl="0" fontAlgn="auto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FFFFFF"/>
              </a:buClr>
              <a:buSzPct val="100000"/>
              <a:buFont typeface="Wingdings" pitchFamily="2"/>
              <a:buChar char=""/>
              <a:tabLst/>
              <a:defRPr lang="fr-FR" sz="1800" b="0" i="0" u="none" strike="noStrike" kern="1200" cap="none" spc="0" baseline="0">
                <a:solidFill>
                  <a:srgbClr val="FFFFFF"/>
                </a:solidFill>
                <a:uFillTx/>
                <a:latin typeface="Corbel"/>
              </a:defRPr>
            </a:lvl3pPr>
            <a:lvl4pPr marL="868680" marR="0" lvl="3" indent="-182880" algn="l" defTabSz="914400" rtl="0" fontAlgn="auto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FFFFFF"/>
              </a:buClr>
              <a:buSzPct val="100000"/>
              <a:buFont typeface="Wingdings" pitchFamily="2"/>
              <a:buChar char=""/>
              <a:tabLst/>
              <a:defRPr lang="fr-FR" sz="1600" b="0" i="0" u="none" strike="noStrike" kern="1200" cap="none" spc="0" baseline="0">
                <a:solidFill>
                  <a:srgbClr val="FFFFFF"/>
                </a:solidFill>
                <a:uFillTx/>
                <a:latin typeface="Corbel"/>
              </a:defRPr>
            </a:lvl4pPr>
            <a:lvl5pPr marL="1097280" marR="0" lvl="4" indent="-182880" algn="l" defTabSz="914400" rtl="0" fontAlgn="auto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rgbClr val="FFFFFF"/>
              </a:buClr>
              <a:buSzPct val="100000"/>
              <a:buFont typeface="Wingdings" pitchFamily="2"/>
              <a:buChar char=""/>
              <a:tabLst/>
              <a:defRPr lang="fr-FR" sz="1600" b="0" i="0" u="none" strike="noStrike" kern="1200" cap="none" spc="0" baseline="0">
                <a:solidFill>
                  <a:srgbClr val="FFFFFF"/>
                </a:solidFill>
                <a:uFillTx/>
                <a:latin typeface="Corbel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bg1"/>
              </a:buClr>
              <a:buFont typeface="Wingdings" pitchFamily="2"/>
              <a:buNone/>
            </a:pPr>
            <a:r>
              <a:rPr lang="fr-FR" sz="1600" b="1" u="sng" dirty="0">
                <a:solidFill>
                  <a:schemeClr val="bg1"/>
                </a:solidFill>
                <a:latin typeface="Carlito" pitchFamily="34"/>
                <a:cs typeface="Carlito" pitchFamily="34"/>
              </a:rPr>
              <a:t>Indicateurs pour les domaines d’expertise:</a:t>
            </a:r>
          </a:p>
          <a:p>
            <a:pPr>
              <a:buClr>
                <a:srgbClr val="002060"/>
              </a:buClr>
              <a:buFont typeface="Wingdings" pitchFamily="2"/>
              <a:buChar char="§"/>
            </a:pPr>
            <a:r>
              <a:rPr lang="fr-FR" sz="16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Création de services:</a:t>
            </a:r>
            <a:r>
              <a:rPr lang="fr-FR" sz="1600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 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chemeClr val="bg1"/>
                </a:solidFill>
                <a:latin typeface="Carlito" pitchFamily="34"/>
                <a:cs typeface="Carlito" pitchFamily="34"/>
              </a:rPr>
              <a:t>% de la population avec accès à l’eau  en 2016</a:t>
            </a:r>
          </a:p>
          <a:p>
            <a:pPr>
              <a:buClr>
                <a:srgbClr val="002060"/>
              </a:buClr>
              <a:buFont typeface="Wingdings" pitchFamily="2"/>
              <a:buChar char="§"/>
            </a:pPr>
            <a:r>
              <a:rPr lang="fr-FR" sz="16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Modernisation des services: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fr-FR" sz="1600" b="1" dirty="0">
                <a:solidFill>
                  <a:schemeClr val="bg1"/>
                </a:solidFill>
                <a:latin typeface="Carlito" pitchFamily="34"/>
                <a:cs typeface="Carlito" pitchFamily="34"/>
              </a:rPr>
              <a:t>% de la population ayant accès à un service d’eau sécurisé en 2016 </a:t>
            </a:r>
          </a:p>
          <a:p>
            <a:pPr>
              <a:buClr>
                <a:srgbClr val="002060"/>
              </a:buClr>
              <a:buFont typeface="Wingdings" panose="05000000000000000000" pitchFamily="2" charset="2"/>
              <a:buChar char="§"/>
            </a:pPr>
            <a:r>
              <a:rPr lang="fr-FR" sz="16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Consulting: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fr-FR" sz="1600" b="1" dirty="0">
                <a:latin typeface="Carlito" pitchFamily="34"/>
                <a:cs typeface="Carlito" pitchFamily="34"/>
              </a:rPr>
              <a:t>Score d’efficacité 2016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8B07D0-72F9-9731-A35F-EB87F164E6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71278" y="641981"/>
            <a:ext cx="9784080" cy="689859"/>
          </a:xfrm>
        </p:spPr>
        <p:txBody>
          <a:bodyPr anchorCtr="1"/>
          <a:lstStyle/>
          <a:p>
            <a:pPr lvl="0" algn="ctr"/>
            <a:r>
              <a:rPr lang="fr-FR" sz="4400" b="1">
                <a:solidFill>
                  <a:srgbClr val="002060"/>
                </a:solidFill>
              </a:rPr>
              <a:t>MAQUETTE DU TABLEAU DE BORD</a:t>
            </a:r>
          </a:p>
        </p:txBody>
      </p:sp>
      <p:pic>
        <p:nvPicPr>
          <p:cNvPr id="3" name="Image 10">
            <a:extLst>
              <a:ext uri="{FF2B5EF4-FFF2-40B4-BE49-F238E27FC236}">
                <a16:creationId xmlns:a16="http://schemas.microsoft.com/office/drawing/2014/main" id="{D1D96489-32B0-FEFD-7574-16C0CDA58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2235" y="2206490"/>
            <a:ext cx="8567530" cy="4009529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Image 4">
            <a:extLst>
              <a:ext uri="{FF2B5EF4-FFF2-40B4-BE49-F238E27FC236}">
                <a16:creationId xmlns:a16="http://schemas.microsoft.com/office/drawing/2014/main" id="{93755FDB-901E-360D-4AD3-224C94525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190" y="6365815"/>
            <a:ext cx="640957" cy="396136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977803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8B07D0-72F9-9731-A35F-EB87F164E6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71278" y="641981"/>
            <a:ext cx="9784080" cy="689859"/>
          </a:xfrm>
        </p:spPr>
        <p:txBody>
          <a:bodyPr anchorCtr="1"/>
          <a:lstStyle/>
          <a:p>
            <a:pPr lvl="0" algn="ctr"/>
            <a:r>
              <a:rPr lang="fr-FR" sz="4400" b="1">
                <a:solidFill>
                  <a:srgbClr val="002060"/>
                </a:solidFill>
              </a:rPr>
              <a:t>MAQUETTE DU TABLEAU DE BORD</a:t>
            </a:r>
          </a:p>
        </p:txBody>
      </p:sp>
      <p:pic>
        <p:nvPicPr>
          <p:cNvPr id="4" name="Image 12">
            <a:extLst>
              <a:ext uri="{FF2B5EF4-FFF2-40B4-BE49-F238E27FC236}">
                <a16:creationId xmlns:a16="http://schemas.microsoft.com/office/drawing/2014/main" id="{861BAA35-4DC0-D59D-54D8-4D791E7A9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046" y="2385395"/>
            <a:ext cx="5589049" cy="361985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Image 9">
            <a:extLst>
              <a:ext uri="{FF2B5EF4-FFF2-40B4-BE49-F238E27FC236}">
                <a16:creationId xmlns:a16="http://schemas.microsoft.com/office/drawing/2014/main" id="{F2C2B0CD-6302-AB6C-2A53-1C2E4288B9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668" y="2385395"/>
            <a:ext cx="5760974" cy="361985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Image 4">
            <a:extLst>
              <a:ext uri="{FF2B5EF4-FFF2-40B4-BE49-F238E27FC236}">
                <a16:creationId xmlns:a16="http://schemas.microsoft.com/office/drawing/2014/main" id="{93755FDB-901E-360D-4AD3-224C94525E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4190" y="6365815"/>
            <a:ext cx="640957" cy="39613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A2D8C6E-1363-E0AE-B85A-99232E1432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71278" y="641981"/>
            <a:ext cx="9784080" cy="689859"/>
          </a:xfrm>
        </p:spPr>
        <p:txBody>
          <a:bodyPr anchorCtr="1"/>
          <a:lstStyle/>
          <a:p>
            <a:pPr lvl="0" algn="ctr"/>
            <a:r>
              <a:rPr lang="fr-FR" sz="4400" b="1">
                <a:solidFill>
                  <a:srgbClr val="002060"/>
                </a:solidFill>
              </a:rPr>
              <a:t>MAQUETTE DU TABLEAU DE BORD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DB746F-DFB1-822E-C823-2504A7A0DDD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08399" y="2071317"/>
            <a:ext cx="2176381" cy="314078"/>
          </a:xfrm>
        </p:spPr>
        <p:txBody>
          <a:bodyPr/>
          <a:lstStyle/>
          <a:p>
            <a:pPr marL="0" lvl="0" indent="0">
              <a:lnSpc>
                <a:spcPct val="70000"/>
              </a:lnSpc>
              <a:buNone/>
            </a:pPr>
            <a:endParaRPr lang="fr-FR" sz="1700"/>
          </a:p>
          <a:p>
            <a:pPr lvl="0">
              <a:lnSpc>
                <a:spcPct val="70000"/>
              </a:lnSpc>
            </a:pPr>
            <a:endParaRPr lang="fr-FR" sz="1700"/>
          </a:p>
        </p:txBody>
      </p:sp>
      <p:pic>
        <p:nvPicPr>
          <p:cNvPr id="5" name="Image 8">
            <a:extLst>
              <a:ext uri="{FF2B5EF4-FFF2-40B4-BE49-F238E27FC236}">
                <a16:creationId xmlns:a16="http://schemas.microsoft.com/office/drawing/2014/main" id="{CB2ADC78-5175-1120-1B1B-F36BCC745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64" y="2209857"/>
            <a:ext cx="5838873" cy="399466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Image 4">
            <a:extLst>
              <a:ext uri="{FF2B5EF4-FFF2-40B4-BE49-F238E27FC236}">
                <a16:creationId xmlns:a16="http://schemas.microsoft.com/office/drawing/2014/main" id="{2E8A50E5-8732-A5C7-0906-F32D229D23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481" y="6375754"/>
            <a:ext cx="640957" cy="39613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A75CA84F-E478-FB42-099E-79F8742F41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3318" y="2209857"/>
            <a:ext cx="5661018" cy="399466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A94900B-BB8A-EB14-F566-A103590254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6344" y="284177"/>
            <a:ext cx="10873404" cy="1508760"/>
          </a:xfrm>
        </p:spPr>
        <p:txBody>
          <a:bodyPr anchorCtr="1"/>
          <a:lstStyle/>
          <a:p>
            <a:pPr lvl="0" algn="ctr"/>
            <a:r>
              <a:rPr lang="fr-FR" b="1">
                <a:solidFill>
                  <a:srgbClr val="002060"/>
                </a:solidFill>
              </a:rPr>
              <a:t>La situation de l’afrique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F2E1D32-AA99-68CD-7720-9EDF7532C57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96512" y="1991800"/>
            <a:ext cx="11598962" cy="4582021"/>
          </a:xfrm>
        </p:spPr>
        <p:txBody>
          <a:bodyPr/>
          <a:lstStyle/>
          <a:p>
            <a:pPr marL="0" lvl="0" indent="0">
              <a:buNone/>
            </a:pPr>
            <a:endParaRPr lang="fr-FR" sz="1100" b="1" u="sng" dirty="0">
              <a:latin typeface="Carlito" pitchFamily="34"/>
              <a:cs typeface="Carlito" pitchFamily="34"/>
            </a:endParaRPr>
          </a:p>
          <a:p>
            <a:pPr lvl="0">
              <a:buClr>
                <a:srgbClr val="002060"/>
              </a:buClr>
              <a:buChar char="Ø"/>
            </a:pPr>
            <a:r>
              <a:rPr lang="fr-FR" sz="1900" b="1" dirty="0">
                <a:latin typeface="Carlito" pitchFamily="34"/>
                <a:cs typeface="Carlito" pitchFamily="34"/>
              </a:rPr>
              <a:t> Plus de 467 000 décès liés à l’eau en 2016 (soit plus 38 morts pour 100k hbts)</a:t>
            </a:r>
          </a:p>
          <a:p>
            <a:pPr marL="0" lvl="0" indent="0">
              <a:buNone/>
            </a:pPr>
            <a:endParaRPr lang="fr-FR" sz="1000" b="1" dirty="0">
              <a:latin typeface="Carlito" pitchFamily="34"/>
              <a:cs typeface="Carlito" pitchFamily="34"/>
            </a:endParaRPr>
          </a:p>
          <a:p>
            <a:pPr lvl="0">
              <a:buClr>
                <a:srgbClr val="002060"/>
              </a:buClr>
              <a:buChar char="Ø"/>
            </a:pPr>
            <a:r>
              <a:rPr lang="fr-FR" sz="1900" b="1" dirty="0">
                <a:latin typeface="Carlito" pitchFamily="34"/>
                <a:cs typeface="Carlito" pitchFamily="34"/>
              </a:rPr>
              <a:t> Moins de 67%  de population a accès à l’eau en 2016</a:t>
            </a:r>
          </a:p>
          <a:p>
            <a:pPr marL="0" lvl="0" indent="0">
              <a:buNone/>
            </a:pPr>
            <a:endParaRPr lang="fr-FR" sz="1100" b="1" dirty="0">
              <a:latin typeface="Carlito" pitchFamily="34"/>
              <a:cs typeface="Carlito" pitchFamily="34"/>
            </a:endParaRPr>
          </a:p>
          <a:p>
            <a:pPr lvl="0">
              <a:buClr>
                <a:srgbClr val="002060"/>
              </a:buClr>
              <a:buChar char="Ø"/>
            </a:pPr>
            <a:r>
              <a:rPr lang="fr-FR" sz="1900" b="1" dirty="0">
                <a:latin typeface="Carlito" pitchFamily="34"/>
                <a:cs typeface="Carlito" pitchFamily="34"/>
              </a:rPr>
              <a:t> De nombreux  pays africains ont moins de 80 % de leur population ayant accès à l’eau  et moins de 50 % ayant accès à un service d’eau sécurisé</a:t>
            </a:r>
          </a:p>
          <a:p>
            <a:pPr marL="0" lvl="0" indent="0">
              <a:buNone/>
            </a:pPr>
            <a:endParaRPr lang="fr-FR" sz="1100" b="1" dirty="0">
              <a:latin typeface="Carlito" pitchFamily="34"/>
              <a:cs typeface="Carlito" pitchFamily="34"/>
            </a:endParaRPr>
          </a:p>
          <a:p>
            <a:pPr lvl="0">
              <a:buClr>
                <a:srgbClr val="002060"/>
              </a:buClr>
              <a:buChar char="Ø"/>
            </a:pPr>
            <a:r>
              <a:rPr lang="fr-FR" sz="1900" b="1" dirty="0">
                <a:latin typeface="Carlito" pitchFamily="34"/>
                <a:cs typeface="Carlito" pitchFamily="34"/>
              </a:rPr>
              <a:t> La plupart des pays ayant un score d’efficacité  &lt; -20 et un score de stabilité politique négatif sont des pays d'Afrique  </a:t>
            </a:r>
            <a:endParaRPr lang="fr-FR" b="1" dirty="0">
              <a:latin typeface="Carlito" pitchFamily="34"/>
              <a:cs typeface="Carlito" pitchFamily="34"/>
            </a:endParaRPr>
          </a:p>
          <a:p>
            <a:pPr lvl="0">
              <a:buChar char="Ø"/>
            </a:pPr>
            <a:endParaRPr lang="fr-FR" dirty="0">
              <a:latin typeface="Carlito" pitchFamily="34"/>
              <a:cs typeface="Carlito" pitchFamily="34"/>
            </a:endParaRPr>
          </a:p>
          <a:p>
            <a:pPr lvl="0">
              <a:buChar char="Ø"/>
            </a:pPr>
            <a:endParaRPr lang="fr-FR" dirty="0">
              <a:latin typeface="Carlito" pitchFamily="34"/>
              <a:cs typeface="Carlito" pitchFamily="34"/>
            </a:endParaRPr>
          </a:p>
          <a:p>
            <a:pPr lvl="0"/>
            <a:endParaRPr lang="fr-FR" dirty="0">
              <a:latin typeface="Carlito" pitchFamily="34"/>
              <a:cs typeface="Carlito" pitchFamily="34"/>
            </a:endParaRPr>
          </a:p>
          <a:p>
            <a:pPr marL="0" lvl="0" indent="0">
              <a:buNone/>
            </a:pPr>
            <a:endParaRPr lang="fr-FR" dirty="0">
              <a:latin typeface="Carlito" pitchFamily="34"/>
              <a:cs typeface="Carlito" pitchFamily="34"/>
            </a:endParaRPr>
          </a:p>
          <a:p>
            <a:pPr marL="0" lvl="0" indent="0">
              <a:buNone/>
            </a:pPr>
            <a:endParaRPr lang="fr-FR" dirty="0"/>
          </a:p>
        </p:txBody>
      </p:sp>
      <p:pic>
        <p:nvPicPr>
          <p:cNvPr id="4" name="Image 4">
            <a:extLst>
              <a:ext uri="{FF2B5EF4-FFF2-40B4-BE49-F238E27FC236}">
                <a16:creationId xmlns:a16="http://schemas.microsoft.com/office/drawing/2014/main" id="{7A2B2E26-19C4-B3BD-7400-49120F031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481" y="6375754"/>
            <a:ext cx="640957" cy="39613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8EA4752-B67F-88E2-9AC9-DF8B9846B80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6344" y="284177"/>
            <a:ext cx="10873404" cy="1508760"/>
          </a:xfrm>
        </p:spPr>
        <p:txBody>
          <a:bodyPr anchorCtr="1"/>
          <a:lstStyle/>
          <a:p>
            <a:pPr lvl="0" algn="ctr"/>
            <a:r>
              <a:rPr lang="fr-FR" b="1">
                <a:solidFill>
                  <a:srgbClr val="002060"/>
                </a:solidFill>
                <a:latin typeface="Carlito" pitchFamily="34"/>
                <a:cs typeface="Carlito" pitchFamily="34"/>
              </a:rPr>
              <a:t>Les pays en difficultes en 2016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0A7FFB-F904-ABF7-477A-C29B0B8D5E4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96512" y="1991800"/>
            <a:ext cx="11598962" cy="458202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fr-FR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Vis-à-vis de l’accès à l’eau :</a:t>
            </a:r>
          </a:p>
          <a:p>
            <a:pPr lvl="0">
              <a:buClr>
                <a:srgbClr val="002060"/>
              </a:buClr>
              <a:buChar char="Ø"/>
            </a:pPr>
            <a:r>
              <a:rPr lang="fr-FR" sz="1900" dirty="0">
                <a:latin typeface="Carlito" pitchFamily="34"/>
                <a:cs typeface="Carlito" pitchFamily="34"/>
              </a:rPr>
              <a:t> </a:t>
            </a:r>
            <a:r>
              <a:rPr lang="fr-FR" sz="1900" b="1" dirty="0">
                <a:latin typeface="Carlito" pitchFamily="34"/>
                <a:cs typeface="Carlito" pitchFamily="34"/>
              </a:rPr>
              <a:t>Soudan du Sud, République </a:t>
            </a:r>
            <a:r>
              <a:rPr lang="fr-FR" sz="1900" b="1" dirty="0" err="1">
                <a:latin typeface="Carlito" pitchFamily="34"/>
                <a:cs typeface="Carlito" pitchFamily="34"/>
              </a:rPr>
              <a:t>centreafricaine</a:t>
            </a:r>
            <a:r>
              <a:rPr lang="fr-FR" sz="1900" b="1" dirty="0">
                <a:latin typeface="Carlito" pitchFamily="34"/>
                <a:cs typeface="Carlito" pitchFamily="34"/>
              </a:rPr>
              <a:t>, République Démocratique du Congo, Tchad, Angola </a:t>
            </a:r>
          </a:p>
          <a:p>
            <a:pPr marL="0" lvl="0" indent="0">
              <a:buNone/>
            </a:pPr>
            <a:endParaRPr lang="fr-FR" sz="500" b="1" u="sng" dirty="0">
              <a:solidFill>
                <a:srgbClr val="002060"/>
              </a:solidFill>
              <a:latin typeface="Carlito" pitchFamily="34"/>
              <a:cs typeface="Carlito" pitchFamily="34"/>
            </a:endParaRPr>
          </a:p>
          <a:p>
            <a:pPr marL="0" lvl="0" indent="0">
              <a:buNone/>
            </a:pPr>
            <a:r>
              <a:rPr lang="fr-FR" sz="20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Vis-à-vis de l’accès aux différents services d’eau :</a:t>
            </a:r>
          </a:p>
          <a:p>
            <a:pPr lvl="0">
              <a:buClr>
                <a:srgbClr val="002060"/>
              </a:buClr>
              <a:buChar char="Ø"/>
            </a:pPr>
            <a:r>
              <a:rPr lang="fr-FR" sz="2000" b="1" dirty="0">
                <a:latin typeface="Carlito" pitchFamily="34"/>
                <a:cs typeface="Carlito" pitchFamily="34"/>
              </a:rPr>
              <a:t> Ethiopie, Ouganda, Tanzanie, Sierra Leone, Zambie</a:t>
            </a:r>
          </a:p>
          <a:p>
            <a:pPr marL="0" lvl="0" indent="0">
              <a:buNone/>
            </a:pPr>
            <a:endParaRPr lang="fr-FR" sz="500" b="1" u="sng" dirty="0">
              <a:solidFill>
                <a:srgbClr val="002060"/>
              </a:solidFill>
              <a:latin typeface="Carlito" pitchFamily="34"/>
              <a:cs typeface="Carlito" pitchFamily="34"/>
            </a:endParaRPr>
          </a:p>
          <a:p>
            <a:pPr marL="0" lvl="0" indent="0">
              <a:buNone/>
            </a:pPr>
            <a:r>
              <a:rPr lang="fr-FR" sz="20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Vis-à-vis de l’accès à l’eau et de la mortalité liée à l’eau :</a:t>
            </a:r>
          </a:p>
          <a:p>
            <a:pPr lvl="0">
              <a:buClr>
                <a:srgbClr val="002060"/>
              </a:buClr>
              <a:buChar char="Ø"/>
            </a:pPr>
            <a:r>
              <a:rPr lang="fr-FR" sz="2000" b="1" dirty="0">
                <a:latin typeface="Carlito" pitchFamily="34"/>
                <a:cs typeface="Carlito" pitchFamily="34"/>
              </a:rPr>
              <a:t> Tchad, Somalie, République </a:t>
            </a:r>
            <a:r>
              <a:rPr lang="fr-FR" sz="2000" b="1" dirty="0" err="1">
                <a:latin typeface="Carlito" pitchFamily="34"/>
                <a:cs typeface="Carlito" pitchFamily="34"/>
              </a:rPr>
              <a:t>centreafricaine</a:t>
            </a:r>
            <a:r>
              <a:rPr lang="fr-FR" sz="2000" b="1" dirty="0">
                <a:latin typeface="Carlito" pitchFamily="34"/>
                <a:cs typeface="Carlito" pitchFamily="34"/>
              </a:rPr>
              <a:t>, Sierra Leone, Niger, Mali</a:t>
            </a:r>
          </a:p>
          <a:p>
            <a:pPr marL="0" lvl="0" indent="0">
              <a:buNone/>
            </a:pPr>
            <a:endParaRPr lang="fr-FR" sz="500" b="1" dirty="0">
              <a:latin typeface="Carlito" pitchFamily="34"/>
              <a:cs typeface="Carlito" pitchFamily="34"/>
            </a:endParaRPr>
          </a:p>
          <a:p>
            <a:pPr marL="0" lvl="0" indent="0">
              <a:buNone/>
            </a:pPr>
            <a:r>
              <a:rPr lang="fr-FR" sz="20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Vis-à-vis de la stabilité politique : </a:t>
            </a:r>
          </a:p>
          <a:p>
            <a:pPr lvl="0">
              <a:buClr>
                <a:srgbClr val="002060"/>
              </a:buClr>
              <a:buChar char="Ø"/>
            </a:pPr>
            <a:r>
              <a:rPr lang="fr-FR" sz="2000" b="1" dirty="0">
                <a:latin typeface="Carlito" pitchFamily="34"/>
                <a:cs typeface="Carlito" pitchFamily="34"/>
              </a:rPr>
              <a:t> Syrie, Yémen, Afghanistan, Pakistan, Soudan du Sud</a:t>
            </a:r>
            <a:endParaRPr lang="fr-FR" sz="2000" dirty="0">
              <a:latin typeface="Carlito" pitchFamily="34"/>
              <a:cs typeface="Carlito" pitchFamily="34"/>
            </a:endParaRPr>
          </a:p>
          <a:p>
            <a:pPr lvl="0">
              <a:buChar char="Ø"/>
            </a:pPr>
            <a:endParaRPr lang="fr-FR" sz="2000" b="1" u="sng" dirty="0">
              <a:latin typeface="Carlito" pitchFamily="34"/>
              <a:cs typeface="Carlito" pitchFamily="34"/>
            </a:endParaRPr>
          </a:p>
          <a:p>
            <a:pPr marL="0" lvl="0" indent="0">
              <a:buNone/>
            </a:pPr>
            <a:endParaRPr lang="fr-FR" sz="2000" dirty="0">
              <a:latin typeface="Carlito" pitchFamily="34"/>
              <a:cs typeface="Carlito" pitchFamily="34"/>
            </a:endParaRPr>
          </a:p>
          <a:p>
            <a:pPr lvl="0">
              <a:buChar char="Ø"/>
            </a:pPr>
            <a:endParaRPr lang="fr-FR" sz="2000" b="1" u="sng" dirty="0">
              <a:latin typeface="Carlito" pitchFamily="34"/>
              <a:cs typeface="Carlito" pitchFamily="34"/>
            </a:endParaRPr>
          </a:p>
          <a:p>
            <a:pPr marL="0" lvl="0" indent="0">
              <a:buNone/>
            </a:pPr>
            <a:endParaRPr lang="fr-FR" sz="1900" dirty="0">
              <a:latin typeface="Carlito" pitchFamily="34"/>
              <a:cs typeface="Carlito" pitchFamily="34"/>
            </a:endParaRPr>
          </a:p>
          <a:p>
            <a:pPr marL="0" lvl="0" indent="0">
              <a:buNone/>
            </a:pPr>
            <a:endParaRPr lang="fr-FR" sz="1000" dirty="0">
              <a:latin typeface="Carlito" pitchFamily="34"/>
              <a:cs typeface="Carlito" pitchFamily="34"/>
            </a:endParaRPr>
          </a:p>
          <a:p>
            <a:pPr marL="0" lvl="0" indent="0">
              <a:buNone/>
            </a:pPr>
            <a:endParaRPr lang="fr-FR" dirty="0">
              <a:latin typeface="Carlito" pitchFamily="34"/>
              <a:cs typeface="Carlito" pitchFamily="34"/>
            </a:endParaRPr>
          </a:p>
          <a:p>
            <a:pPr lvl="0">
              <a:buChar char="Ø"/>
            </a:pPr>
            <a:endParaRPr lang="fr-FR" dirty="0">
              <a:latin typeface="Carlito" pitchFamily="34"/>
              <a:cs typeface="Carlito" pitchFamily="34"/>
            </a:endParaRPr>
          </a:p>
          <a:p>
            <a:pPr lvl="0">
              <a:buChar char="Ø"/>
            </a:pPr>
            <a:endParaRPr lang="fr-FR" dirty="0">
              <a:latin typeface="Carlito" pitchFamily="34"/>
              <a:cs typeface="Carlito" pitchFamily="34"/>
            </a:endParaRPr>
          </a:p>
          <a:p>
            <a:pPr lvl="0"/>
            <a:endParaRPr lang="fr-FR" dirty="0">
              <a:latin typeface="Carlito" pitchFamily="34"/>
              <a:cs typeface="Carlito" pitchFamily="34"/>
            </a:endParaRPr>
          </a:p>
          <a:p>
            <a:pPr marL="0" lvl="0" indent="0">
              <a:buNone/>
            </a:pPr>
            <a:endParaRPr lang="fr-FR" dirty="0">
              <a:latin typeface="Carlito" pitchFamily="34"/>
              <a:cs typeface="Carlito" pitchFamily="34"/>
            </a:endParaRPr>
          </a:p>
          <a:p>
            <a:pPr marL="0" lvl="0" indent="0">
              <a:buNone/>
            </a:pPr>
            <a:endParaRPr lang="fr-FR" dirty="0"/>
          </a:p>
        </p:txBody>
      </p:sp>
      <p:pic>
        <p:nvPicPr>
          <p:cNvPr id="4" name="Image 4">
            <a:extLst>
              <a:ext uri="{FF2B5EF4-FFF2-40B4-BE49-F238E27FC236}">
                <a16:creationId xmlns:a16="http://schemas.microsoft.com/office/drawing/2014/main" id="{70A2D333-C808-D445-767D-FDD12AA8E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481" y="6375754"/>
            <a:ext cx="640957" cy="39613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C9CEF4-A979-4F54-7FDB-5D13405A10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6344" y="284177"/>
            <a:ext cx="10873404" cy="1508760"/>
          </a:xfrm>
        </p:spPr>
        <p:txBody>
          <a:bodyPr anchorCtr="1"/>
          <a:lstStyle/>
          <a:p>
            <a:pPr lvl="0" algn="ctr"/>
            <a:r>
              <a:rPr lang="fr-FR" sz="36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Les pays ELIGIBLES AUX ACTIONS DE DWFA EN 2016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1C9AF5A-DFD2-6D1E-4EFD-8DBB5BB3AB8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95479" y="1892405"/>
            <a:ext cx="11598962" cy="4483348"/>
          </a:xfrm>
        </p:spPr>
        <p:txBody>
          <a:bodyPr/>
          <a:lstStyle/>
          <a:p>
            <a:pPr marL="0" lvl="0" indent="0">
              <a:buNone/>
            </a:pPr>
            <a:r>
              <a:rPr lang="fr-FR" b="1" dirty="0">
                <a:latin typeface="Carlito" pitchFamily="34"/>
                <a:cs typeface="Carlito" pitchFamily="34"/>
              </a:rPr>
              <a:t>Pour être éligible, les pays doivent:</a:t>
            </a:r>
          </a:p>
          <a:p>
            <a:pPr marL="0" lvl="0" indent="0">
              <a:buNone/>
            </a:pPr>
            <a:r>
              <a:rPr lang="fr-FR" sz="20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Être politiquement stable</a:t>
            </a:r>
          </a:p>
          <a:p>
            <a:pPr lvl="0">
              <a:buClr>
                <a:srgbClr val="002060"/>
              </a:buClr>
              <a:buChar char="Ø"/>
            </a:pPr>
            <a:r>
              <a:rPr lang="fr-FR" sz="1800" dirty="0">
                <a:latin typeface="Carlito" pitchFamily="34"/>
                <a:cs typeface="Carlito" pitchFamily="34"/>
              </a:rPr>
              <a:t> </a:t>
            </a:r>
            <a:r>
              <a:rPr lang="fr-FR" sz="1800" b="1" dirty="0">
                <a:latin typeface="Carlito" pitchFamily="34"/>
                <a:cs typeface="Carlito" pitchFamily="34"/>
              </a:rPr>
              <a:t>Score de stabilité politique médian  en 2016  = -0,02  1</a:t>
            </a:r>
            <a:r>
              <a:rPr lang="fr-FR" sz="1800" b="1" baseline="30000" dirty="0">
                <a:latin typeface="Carlito" pitchFamily="34"/>
                <a:cs typeface="Carlito" pitchFamily="34"/>
              </a:rPr>
              <a:t>er</a:t>
            </a:r>
            <a:r>
              <a:rPr lang="fr-FR" sz="1800" b="1" dirty="0">
                <a:latin typeface="Carlito" pitchFamily="34"/>
                <a:cs typeface="Carlito" pitchFamily="34"/>
              </a:rPr>
              <a:t> quartile = -0,72  3</a:t>
            </a:r>
            <a:r>
              <a:rPr lang="fr-FR" sz="1800" b="1" baseline="30000" dirty="0">
                <a:latin typeface="Carlito" pitchFamily="34"/>
                <a:cs typeface="Carlito" pitchFamily="34"/>
              </a:rPr>
              <a:t>ème</a:t>
            </a:r>
            <a:r>
              <a:rPr lang="fr-FR" sz="1800" b="1" dirty="0">
                <a:latin typeface="Carlito" pitchFamily="34"/>
                <a:cs typeface="Carlito" pitchFamily="34"/>
              </a:rPr>
              <a:t> quartile = 0,77</a:t>
            </a:r>
          </a:p>
          <a:p>
            <a:pPr lvl="0">
              <a:buClr>
                <a:srgbClr val="002060"/>
              </a:buClr>
              <a:buChar char="Ø"/>
            </a:pPr>
            <a:r>
              <a:rPr lang="fr-FR" sz="1800" b="1" dirty="0">
                <a:latin typeface="Carlito" pitchFamily="34"/>
                <a:cs typeface="Carlito" pitchFamily="34"/>
              </a:rPr>
              <a:t> Score de stabilité politique supérieur ou égale à -0,72 = pays éligibles </a:t>
            </a:r>
          </a:p>
          <a:p>
            <a:pPr marL="0" lvl="0" indent="0">
              <a:buNone/>
            </a:pPr>
            <a:r>
              <a:rPr lang="fr-FR" sz="18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Avoir un score d’efficacité négatif</a:t>
            </a:r>
          </a:p>
          <a:p>
            <a:pPr lvl="0">
              <a:buClr>
                <a:srgbClr val="002060"/>
              </a:buClr>
              <a:buChar char="Ø"/>
            </a:pPr>
            <a:r>
              <a:rPr lang="fr-FR" sz="20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 </a:t>
            </a:r>
            <a:r>
              <a:rPr lang="fr-FR" sz="1600" b="1" dirty="0">
                <a:latin typeface="Carlito" pitchFamily="34"/>
                <a:cs typeface="Carlito" pitchFamily="34"/>
              </a:rPr>
              <a:t>Différence entre % d’accès à l’eau des populations et taux de mortalité lié à l’eau</a:t>
            </a:r>
          </a:p>
          <a:p>
            <a:pPr marL="0" lvl="0" indent="0">
              <a:buNone/>
            </a:pPr>
            <a:r>
              <a:rPr lang="fr-FR" sz="18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Avoir un besoin important de créations de services</a:t>
            </a:r>
          </a:p>
          <a:p>
            <a:pPr lvl="0">
              <a:buClr>
                <a:srgbClr val="002060"/>
              </a:buClr>
              <a:buChar char="Ø"/>
            </a:pPr>
            <a:r>
              <a:rPr lang="fr-FR" sz="20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 </a:t>
            </a:r>
            <a:r>
              <a:rPr lang="fr-FR" sz="1600" b="1" dirty="0">
                <a:latin typeface="Carlito" pitchFamily="34"/>
                <a:cs typeface="Carlito" pitchFamily="34"/>
              </a:rPr>
              <a:t>Moins de 90 % de la population ayant accès à l’eau </a:t>
            </a:r>
          </a:p>
          <a:p>
            <a:pPr marL="0" lvl="0" indent="0">
              <a:buNone/>
            </a:pPr>
            <a:r>
              <a:rPr lang="fr-FR" sz="18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Avoir un besoin important d’amélioration des services</a:t>
            </a:r>
          </a:p>
          <a:p>
            <a:pPr lvl="0">
              <a:buClr>
                <a:srgbClr val="002060"/>
              </a:buClr>
              <a:buChar char="Ø"/>
            </a:pPr>
            <a:r>
              <a:rPr lang="fr-FR" sz="20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 </a:t>
            </a:r>
            <a:r>
              <a:rPr lang="fr-FR" sz="1600" b="1" dirty="0">
                <a:latin typeface="Carlito" pitchFamily="34"/>
                <a:cs typeface="Carlito" pitchFamily="34"/>
              </a:rPr>
              <a:t>Ecart significatif entre le % de population avec accès basique et sécurisé à l’eau</a:t>
            </a:r>
            <a:endParaRPr lang="fr-FR" sz="1900" b="1" dirty="0">
              <a:latin typeface="Carlito" pitchFamily="34"/>
              <a:cs typeface="Carlito" pitchFamily="34"/>
            </a:endParaRPr>
          </a:p>
          <a:p>
            <a:pPr marL="0" lvl="0" indent="0">
              <a:buNone/>
            </a:pPr>
            <a:endParaRPr lang="fr-FR" sz="2000" dirty="0">
              <a:latin typeface="Carlito" pitchFamily="34"/>
              <a:cs typeface="Carlito" pitchFamily="34"/>
            </a:endParaRPr>
          </a:p>
          <a:p>
            <a:pPr lvl="0">
              <a:buChar char="Ø"/>
            </a:pPr>
            <a:endParaRPr lang="fr-FR" sz="2000" b="1" u="sng" dirty="0">
              <a:latin typeface="Carlito" pitchFamily="34"/>
              <a:cs typeface="Carlito" pitchFamily="34"/>
            </a:endParaRPr>
          </a:p>
          <a:p>
            <a:pPr marL="0" lvl="0" indent="0">
              <a:buNone/>
            </a:pPr>
            <a:endParaRPr lang="fr-FR" sz="2000" dirty="0">
              <a:latin typeface="Carlito" pitchFamily="34"/>
              <a:cs typeface="Carlito" pitchFamily="34"/>
            </a:endParaRPr>
          </a:p>
          <a:p>
            <a:pPr lvl="0">
              <a:buChar char="Ø"/>
            </a:pPr>
            <a:endParaRPr lang="fr-FR" sz="2000" b="1" u="sng" dirty="0">
              <a:latin typeface="Carlito" pitchFamily="34"/>
              <a:cs typeface="Carlito" pitchFamily="34"/>
            </a:endParaRPr>
          </a:p>
          <a:p>
            <a:pPr marL="0" lvl="0" indent="0">
              <a:buNone/>
            </a:pPr>
            <a:endParaRPr lang="fr-FR" sz="1900" dirty="0">
              <a:latin typeface="Carlito" pitchFamily="34"/>
              <a:cs typeface="Carlito" pitchFamily="34"/>
            </a:endParaRPr>
          </a:p>
          <a:p>
            <a:pPr marL="0" lvl="0" indent="0">
              <a:buNone/>
            </a:pPr>
            <a:endParaRPr lang="fr-FR" sz="1000" dirty="0">
              <a:latin typeface="Carlito" pitchFamily="34"/>
              <a:cs typeface="Carlito" pitchFamily="34"/>
            </a:endParaRPr>
          </a:p>
          <a:p>
            <a:pPr marL="0" lvl="0" indent="0">
              <a:buNone/>
            </a:pPr>
            <a:endParaRPr lang="fr-FR" dirty="0">
              <a:latin typeface="Carlito" pitchFamily="34"/>
              <a:cs typeface="Carlito" pitchFamily="34"/>
            </a:endParaRPr>
          </a:p>
          <a:p>
            <a:pPr lvl="0">
              <a:buChar char="Ø"/>
            </a:pPr>
            <a:endParaRPr lang="fr-FR" dirty="0">
              <a:latin typeface="Carlito" pitchFamily="34"/>
              <a:cs typeface="Carlito" pitchFamily="34"/>
            </a:endParaRPr>
          </a:p>
          <a:p>
            <a:pPr lvl="0">
              <a:buChar char="Ø"/>
            </a:pPr>
            <a:endParaRPr lang="fr-FR" dirty="0">
              <a:latin typeface="Carlito" pitchFamily="34"/>
              <a:cs typeface="Carlito" pitchFamily="34"/>
            </a:endParaRPr>
          </a:p>
          <a:p>
            <a:pPr lvl="0"/>
            <a:endParaRPr lang="fr-FR" dirty="0">
              <a:latin typeface="Carlito" pitchFamily="34"/>
              <a:cs typeface="Carlito" pitchFamily="34"/>
            </a:endParaRPr>
          </a:p>
          <a:p>
            <a:pPr marL="0" lvl="0" indent="0">
              <a:buNone/>
            </a:pPr>
            <a:endParaRPr lang="fr-FR" dirty="0">
              <a:latin typeface="Carlito" pitchFamily="34"/>
              <a:cs typeface="Carlito" pitchFamily="34"/>
            </a:endParaRPr>
          </a:p>
          <a:p>
            <a:pPr marL="0" lvl="0" indent="0">
              <a:buNone/>
            </a:pPr>
            <a:endParaRPr lang="fr-FR" dirty="0"/>
          </a:p>
        </p:txBody>
      </p:sp>
      <p:pic>
        <p:nvPicPr>
          <p:cNvPr id="4" name="Image 4">
            <a:extLst>
              <a:ext uri="{FF2B5EF4-FFF2-40B4-BE49-F238E27FC236}">
                <a16:creationId xmlns:a16="http://schemas.microsoft.com/office/drawing/2014/main" id="{77082960-EFCE-10FE-73E2-C44EA4C2D6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481" y="6375754"/>
            <a:ext cx="640957" cy="39613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ADE4D99-76B9-7715-EDD8-376D7FA541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6344" y="284177"/>
            <a:ext cx="10873404" cy="1508760"/>
          </a:xfrm>
        </p:spPr>
        <p:txBody>
          <a:bodyPr anchorCtr="1"/>
          <a:lstStyle/>
          <a:p>
            <a:pPr lvl="0" algn="ctr"/>
            <a:r>
              <a:rPr lang="fr-FR" sz="36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Les pays ELIGIBLES AUX ACTIONS DE DWFA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CEB6C8-545B-7072-7F42-BBFB63DFB0A6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96521" y="2686114"/>
            <a:ext cx="11598962" cy="2987701"/>
          </a:xfrm>
        </p:spPr>
        <p:txBody>
          <a:bodyPr>
            <a:normAutofit lnSpcReduction="10000"/>
          </a:bodyPr>
          <a:lstStyle/>
          <a:p>
            <a:pPr lvl="0">
              <a:buClr>
                <a:srgbClr val="002060"/>
              </a:buClr>
              <a:buChar char="§"/>
            </a:pPr>
            <a:r>
              <a:rPr lang="fr-FR" sz="20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La Sierra Leone, le Bénin et l’Angola </a:t>
            </a:r>
            <a:r>
              <a:rPr lang="fr-FR" sz="2000" b="1" dirty="0">
                <a:latin typeface="Carlito" pitchFamily="34"/>
                <a:cs typeface="Carlito" pitchFamily="34"/>
              </a:rPr>
              <a:t>font partie des pays stables </a:t>
            </a:r>
            <a:r>
              <a:rPr lang="fr-FR" sz="20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 </a:t>
            </a:r>
            <a:r>
              <a:rPr lang="fr-FR" sz="2000" b="1" dirty="0">
                <a:latin typeface="Carlito" pitchFamily="34"/>
                <a:cs typeface="Carlito" pitchFamily="34"/>
              </a:rPr>
              <a:t>et disposent d’un score d’efficacité fortement négatif; ces pays sont donc éligibles au consulting.</a:t>
            </a:r>
          </a:p>
          <a:p>
            <a:pPr marL="0" lvl="0" indent="0">
              <a:buNone/>
            </a:pPr>
            <a:endParaRPr lang="fr-FR" sz="2000" b="1" dirty="0">
              <a:latin typeface="Carlito" pitchFamily="34"/>
              <a:cs typeface="Carlito" pitchFamily="34"/>
            </a:endParaRPr>
          </a:p>
          <a:p>
            <a:pPr lvl="0">
              <a:buClr>
                <a:srgbClr val="002060"/>
              </a:buClr>
              <a:buChar char="§"/>
            </a:pPr>
            <a:r>
              <a:rPr lang="fr-FR" sz="20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Moins de 70% de leur population</a:t>
            </a:r>
            <a:r>
              <a:rPr lang="fr-FR" sz="2000" b="1" dirty="0">
                <a:latin typeface="Carlito" pitchFamily="34"/>
                <a:cs typeface="Carlito" pitchFamily="34"/>
              </a:rPr>
              <a:t> </a:t>
            </a:r>
            <a:r>
              <a:rPr lang="fr-FR" sz="20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 ont</a:t>
            </a:r>
            <a:r>
              <a:rPr lang="fr-FR" sz="2000" b="1" dirty="0">
                <a:latin typeface="Carlito" pitchFamily="34"/>
                <a:cs typeface="Carlito" pitchFamily="34"/>
              </a:rPr>
              <a:t> accès des services d’eau de base; ces pays ont donc besoin de prestations de création de services.</a:t>
            </a:r>
          </a:p>
          <a:p>
            <a:pPr marL="0" lvl="0" indent="0">
              <a:buNone/>
            </a:pPr>
            <a:endParaRPr lang="fr-FR" sz="2000" b="1" dirty="0">
              <a:latin typeface="Carlito" pitchFamily="34"/>
              <a:cs typeface="Carlito" pitchFamily="34"/>
            </a:endParaRPr>
          </a:p>
          <a:p>
            <a:pPr lvl="0">
              <a:buClr>
                <a:srgbClr val="002060"/>
              </a:buClr>
              <a:buChar char="§"/>
            </a:pPr>
            <a:r>
              <a:rPr lang="fr-FR" sz="20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Moins </a:t>
            </a:r>
            <a:r>
              <a:rPr lang="fr-FR" sz="2000" b="1" dirty="0">
                <a:latin typeface="Carlito" pitchFamily="34"/>
                <a:cs typeface="Carlito" pitchFamily="34"/>
              </a:rPr>
              <a:t> </a:t>
            </a:r>
            <a:r>
              <a:rPr lang="fr-FR" sz="2000" b="1" dirty="0">
                <a:solidFill>
                  <a:srgbClr val="002060"/>
                </a:solidFill>
                <a:latin typeface="Carlito" pitchFamily="34"/>
                <a:cs typeface="Carlito" pitchFamily="34"/>
              </a:rPr>
              <a:t>de 10 % de la population (Sierra Léone) </a:t>
            </a:r>
            <a:r>
              <a:rPr lang="fr-FR" sz="2000" b="1" dirty="0">
                <a:latin typeface="Carlito" pitchFamily="34"/>
                <a:cs typeface="Carlito" pitchFamily="34"/>
              </a:rPr>
              <a:t>accède à un  service d’eau sécurisé; le réseau existant a donc besoin d’être également amélioré.</a:t>
            </a:r>
          </a:p>
          <a:p>
            <a:pPr marL="0" lvl="0" indent="0">
              <a:buNone/>
            </a:pPr>
            <a:endParaRPr lang="fr-FR" sz="1800" dirty="0">
              <a:latin typeface="Carlito" pitchFamily="34"/>
              <a:cs typeface="Carlito" pitchFamily="34"/>
            </a:endParaRPr>
          </a:p>
          <a:p>
            <a:pPr lvl="0">
              <a:buChar char="Ø"/>
            </a:pPr>
            <a:endParaRPr lang="fr-FR" sz="1800" b="1" u="sng" dirty="0">
              <a:latin typeface="Carlito" pitchFamily="34"/>
              <a:cs typeface="Carlito" pitchFamily="34"/>
            </a:endParaRPr>
          </a:p>
          <a:p>
            <a:pPr marL="0" lvl="0" indent="0">
              <a:buNone/>
            </a:pPr>
            <a:endParaRPr lang="fr-FR" sz="1900" dirty="0">
              <a:latin typeface="Carlito" pitchFamily="34"/>
              <a:cs typeface="Carlito" pitchFamily="34"/>
            </a:endParaRPr>
          </a:p>
          <a:p>
            <a:pPr marL="0" lvl="0" indent="0">
              <a:buNone/>
            </a:pPr>
            <a:endParaRPr lang="fr-FR" sz="1000" dirty="0">
              <a:latin typeface="Carlito" pitchFamily="34"/>
              <a:cs typeface="Carlito" pitchFamily="34"/>
            </a:endParaRPr>
          </a:p>
          <a:p>
            <a:pPr marL="0" lvl="0" indent="0">
              <a:buNone/>
            </a:pPr>
            <a:endParaRPr lang="fr-FR" dirty="0">
              <a:latin typeface="Carlito" pitchFamily="34"/>
              <a:cs typeface="Carlito" pitchFamily="34"/>
            </a:endParaRPr>
          </a:p>
          <a:p>
            <a:pPr lvl="0">
              <a:buChar char="Ø"/>
            </a:pPr>
            <a:endParaRPr lang="fr-FR" dirty="0">
              <a:latin typeface="Carlito" pitchFamily="34"/>
              <a:cs typeface="Carlito" pitchFamily="34"/>
            </a:endParaRPr>
          </a:p>
          <a:p>
            <a:pPr lvl="0">
              <a:buChar char="Ø"/>
            </a:pPr>
            <a:endParaRPr lang="fr-FR" dirty="0">
              <a:latin typeface="Carlito" pitchFamily="34"/>
              <a:cs typeface="Carlito" pitchFamily="34"/>
            </a:endParaRPr>
          </a:p>
          <a:p>
            <a:pPr lvl="0"/>
            <a:endParaRPr lang="fr-FR" dirty="0">
              <a:latin typeface="Carlito" pitchFamily="34"/>
              <a:cs typeface="Carlito" pitchFamily="34"/>
            </a:endParaRPr>
          </a:p>
          <a:p>
            <a:pPr marL="0" lvl="0" indent="0">
              <a:buNone/>
            </a:pPr>
            <a:endParaRPr lang="fr-FR" dirty="0">
              <a:latin typeface="Carlito" pitchFamily="34"/>
              <a:cs typeface="Carlito" pitchFamily="34"/>
            </a:endParaRPr>
          </a:p>
          <a:p>
            <a:pPr marL="0" lvl="0" indent="0">
              <a:buNone/>
            </a:pPr>
            <a:endParaRPr lang="fr-FR" dirty="0"/>
          </a:p>
        </p:txBody>
      </p:sp>
      <p:pic>
        <p:nvPicPr>
          <p:cNvPr id="4" name="Image 4">
            <a:extLst>
              <a:ext uri="{FF2B5EF4-FFF2-40B4-BE49-F238E27FC236}">
                <a16:creationId xmlns:a16="http://schemas.microsoft.com/office/drawing/2014/main" id="{6F142712-A3A7-CEA8-9F38-8DBB7A4A7A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481" y="6375754"/>
            <a:ext cx="640957" cy="39613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48F443F-329D-A3B5-29EC-FA90CC3BF0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96344" y="284177"/>
            <a:ext cx="10873404" cy="1508760"/>
          </a:xfrm>
        </p:spPr>
        <p:txBody>
          <a:bodyPr anchorCtr="1"/>
          <a:lstStyle/>
          <a:p>
            <a:pPr lvl="0" algn="ctr"/>
            <a:r>
              <a:rPr lang="fr-FR" b="1">
                <a:solidFill>
                  <a:srgbClr val="002060"/>
                </a:solidFill>
                <a:latin typeface="Carlito" pitchFamily="34"/>
                <a:cs typeface="Carlito" pitchFamily="34"/>
              </a:rPr>
              <a:t>CONCLUSION</a:t>
            </a:r>
            <a:r>
              <a:rPr lang="fr-FR" sz="3600" b="1">
                <a:solidFill>
                  <a:srgbClr val="002060"/>
                </a:solidFill>
                <a:latin typeface="Carlito" pitchFamily="34"/>
                <a:cs typeface="Carlito" pitchFamily="34"/>
              </a:rPr>
              <a:t>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157C7FE-5E2F-A537-C286-65862152B9D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96521" y="2419182"/>
            <a:ext cx="11598962" cy="2719343"/>
          </a:xfrm>
        </p:spPr>
        <p:txBody>
          <a:bodyPr/>
          <a:lstStyle/>
          <a:p>
            <a:pPr marL="0" lvl="0" indent="0">
              <a:buNone/>
            </a:pPr>
            <a:endParaRPr lang="fr-FR" sz="1800" b="1" dirty="0">
              <a:latin typeface="Carlito" pitchFamily="34"/>
              <a:cs typeface="Carlito" pitchFamily="34"/>
            </a:endParaRPr>
          </a:p>
          <a:p>
            <a:pPr marL="0" lvl="0" indent="0">
              <a:buNone/>
            </a:pPr>
            <a:r>
              <a:rPr lang="fr-FR" sz="2000" b="1" dirty="0">
                <a:latin typeface="Carlito" pitchFamily="34"/>
                <a:cs typeface="Carlito" pitchFamily="34"/>
              </a:rPr>
              <a:t>Pour la Sierra Léone, le Bénin et l’Angola:</a:t>
            </a:r>
          </a:p>
          <a:p>
            <a:pPr marL="0" lvl="0" indent="0">
              <a:buNone/>
            </a:pPr>
            <a:r>
              <a:rPr lang="fr-FR" sz="2000" b="1" dirty="0">
                <a:latin typeface="Carlito" pitchFamily="34"/>
                <a:cs typeface="Carlito" pitchFamily="34"/>
              </a:rPr>
              <a:t>Besoins importants de création de services = </a:t>
            </a:r>
            <a:r>
              <a:rPr lang="fr-FR" sz="2000" b="1" dirty="0">
                <a:solidFill>
                  <a:schemeClr val="accent5">
                    <a:lumMod val="50000"/>
                  </a:schemeClr>
                </a:solidFill>
                <a:latin typeface="Carlito" pitchFamily="34"/>
                <a:cs typeface="Carlito" pitchFamily="34"/>
              </a:rPr>
              <a:t>domaine d’intervention principal</a:t>
            </a:r>
          </a:p>
          <a:p>
            <a:pPr marL="0" lvl="0" indent="0">
              <a:buNone/>
            </a:pPr>
            <a:r>
              <a:rPr lang="fr-FR" sz="2000" b="1" dirty="0">
                <a:latin typeface="Carlito" pitchFamily="34"/>
                <a:cs typeface="Carlito" pitchFamily="34"/>
              </a:rPr>
              <a:t>Besoins d’aide au déploiement (Consulting) = </a:t>
            </a:r>
            <a:r>
              <a:rPr lang="fr-FR" sz="2000" b="1" dirty="0">
                <a:solidFill>
                  <a:schemeClr val="accent5">
                    <a:lumMod val="50000"/>
                  </a:schemeClr>
                </a:solidFill>
                <a:latin typeface="Carlito" pitchFamily="34"/>
                <a:cs typeface="Carlito" pitchFamily="34"/>
              </a:rPr>
              <a:t>domaine important</a:t>
            </a:r>
          </a:p>
          <a:p>
            <a:pPr marL="0" lvl="0" indent="0">
              <a:buNone/>
            </a:pPr>
            <a:r>
              <a:rPr lang="fr-FR" sz="2000" b="1" dirty="0">
                <a:latin typeface="Carlito" pitchFamily="34"/>
                <a:cs typeface="Carlito" pitchFamily="34"/>
              </a:rPr>
              <a:t>Besoins d’améliorer des services d’eau existants </a:t>
            </a:r>
            <a:r>
              <a:rPr lang="fr-FR" sz="2000" b="1" dirty="0">
                <a:solidFill>
                  <a:schemeClr val="accent5">
                    <a:lumMod val="50000"/>
                  </a:schemeClr>
                </a:solidFill>
                <a:latin typeface="Carlito" pitchFamily="34"/>
                <a:cs typeface="Carlito" pitchFamily="34"/>
              </a:rPr>
              <a:t>= domaine  d’intervention secondaire</a:t>
            </a:r>
          </a:p>
          <a:p>
            <a:pPr marL="0" lvl="0" indent="0">
              <a:buNone/>
            </a:pPr>
            <a:endParaRPr lang="fr-FR" sz="1900" dirty="0">
              <a:latin typeface="Carlito" pitchFamily="34"/>
              <a:cs typeface="Carlito" pitchFamily="34"/>
            </a:endParaRPr>
          </a:p>
          <a:p>
            <a:pPr marL="0" lvl="0" indent="0">
              <a:buNone/>
            </a:pPr>
            <a:endParaRPr lang="fr-FR" sz="1000" dirty="0">
              <a:latin typeface="Carlito" pitchFamily="34"/>
              <a:cs typeface="Carlito" pitchFamily="34"/>
            </a:endParaRPr>
          </a:p>
          <a:p>
            <a:pPr marL="0" lvl="0" indent="0">
              <a:buNone/>
            </a:pPr>
            <a:endParaRPr lang="fr-FR" dirty="0">
              <a:latin typeface="Carlito" pitchFamily="34"/>
              <a:cs typeface="Carlito" pitchFamily="34"/>
            </a:endParaRPr>
          </a:p>
          <a:p>
            <a:pPr lvl="0">
              <a:buChar char="Ø"/>
            </a:pPr>
            <a:endParaRPr lang="fr-FR" dirty="0">
              <a:latin typeface="Carlito" pitchFamily="34"/>
              <a:cs typeface="Carlito" pitchFamily="34"/>
            </a:endParaRPr>
          </a:p>
          <a:p>
            <a:pPr lvl="0">
              <a:buChar char="Ø"/>
            </a:pPr>
            <a:endParaRPr lang="fr-FR" dirty="0">
              <a:latin typeface="Carlito" pitchFamily="34"/>
              <a:cs typeface="Carlito" pitchFamily="34"/>
            </a:endParaRPr>
          </a:p>
          <a:p>
            <a:pPr lvl="0"/>
            <a:endParaRPr lang="fr-FR" dirty="0">
              <a:latin typeface="Carlito" pitchFamily="34"/>
              <a:cs typeface="Carlito" pitchFamily="34"/>
            </a:endParaRPr>
          </a:p>
          <a:p>
            <a:pPr marL="0" lvl="0" indent="0">
              <a:buNone/>
            </a:pPr>
            <a:endParaRPr lang="fr-FR" dirty="0">
              <a:latin typeface="Carlito" pitchFamily="34"/>
              <a:cs typeface="Carlito" pitchFamily="34"/>
            </a:endParaRPr>
          </a:p>
          <a:p>
            <a:pPr marL="0" lvl="0" indent="0">
              <a:buNone/>
            </a:pPr>
            <a:endParaRPr lang="fr-FR" dirty="0"/>
          </a:p>
        </p:txBody>
      </p:sp>
      <p:pic>
        <p:nvPicPr>
          <p:cNvPr id="4" name="Image 4">
            <a:extLst>
              <a:ext uri="{FF2B5EF4-FFF2-40B4-BE49-F238E27FC236}">
                <a16:creationId xmlns:a16="http://schemas.microsoft.com/office/drawing/2014/main" id="{80C11F55-8088-3BA6-27EF-058F51DB71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4481" y="6375754"/>
            <a:ext cx="640957" cy="39613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2">
            <a:extLst>
              <a:ext uri="{FF2B5EF4-FFF2-40B4-BE49-F238E27FC236}">
                <a16:creationId xmlns:a16="http://schemas.microsoft.com/office/drawing/2014/main" id="{1E89B6BA-7E04-20DA-033B-D37AE1CD581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393762" y="3333582"/>
            <a:ext cx="7402388" cy="1119143"/>
          </a:xfrm>
        </p:spPr>
        <p:txBody>
          <a:bodyPr/>
          <a:lstStyle/>
          <a:p>
            <a:pPr marL="0" lvl="0" indent="0">
              <a:buNone/>
            </a:pPr>
            <a:r>
              <a:rPr lang="fr-FR" sz="4000" b="1">
                <a:solidFill>
                  <a:srgbClr val="002060"/>
                </a:solidFill>
                <a:latin typeface="Carlito" pitchFamily="34"/>
                <a:cs typeface="Carlito" pitchFamily="34"/>
              </a:rPr>
              <a:t>MERCI POUR VOTRE ATTENTION</a:t>
            </a:r>
          </a:p>
        </p:txBody>
      </p:sp>
      <p:pic>
        <p:nvPicPr>
          <p:cNvPr id="3" name="Image 4">
            <a:extLst>
              <a:ext uri="{FF2B5EF4-FFF2-40B4-BE49-F238E27FC236}">
                <a16:creationId xmlns:a16="http://schemas.microsoft.com/office/drawing/2014/main" id="{93895525-E041-2B74-53D9-12A8AC36D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477" y="287496"/>
            <a:ext cx="2320957" cy="1434437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À ban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À%20bandes</Template>
  <TotalTime>2772</TotalTime>
  <Words>1091</Words>
  <Application>Microsoft Office PowerPoint</Application>
  <PresentationFormat>Grand écran</PresentationFormat>
  <Paragraphs>164</Paragraphs>
  <Slides>17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Carlito</vt:lpstr>
      <vt:lpstr>Corbel</vt:lpstr>
      <vt:lpstr>Wingdings</vt:lpstr>
      <vt:lpstr>À bandes</vt:lpstr>
      <vt:lpstr>Etude sur l’accès à l’eau dans le monde</vt:lpstr>
      <vt:lpstr>SOMMAIRE</vt:lpstr>
      <vt:lpstr>Pourquoi cette étude?</vt:lpstr>
      <vt:lpstr>Comment REALISER cette étude ?</vt:lpstr>
      <vt:lpstr>ELABORATION DU TABLEAU DE BORD</vt:lpstr>
      <vt:lpstr>POURQUOI UTILISER  PoWER BI ?</vt:lpstr>
      <vt:lpstr>Traitements des données</vt:lpstr>
      <vt:lpstr>COMPOSITION  DU TABLEAU DE BORD</vt:lpstr>
      <vt:lpstr>MAQUETTE DU TABLEAU DE BORD</vt:lpstr>
      <vt:lpstr>MAQUETTE DU TABLEAU DE BORD</vt:lpstr>
      <vt:lpstr>MAQUETTE DU TABLEAU DE BORD</vt:lpstr>
      <vt:lpstr>La situation de l’afrique</vt:lpstr>
      <vt:lpstr>Les pays en difficultes en 2016</vt:lpstr>
      <vt:lpstr>Les pays ELIGIBLES AUX ACTIONS DE DWFA EN 2016</vt:lpstr>
      <vt:lpstr>Les pays ELIGIBLES AUX ACTIONS DE DWFA </vt:lpstr>
      <vt:lpstr>CONCLUSION 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Etude sur l’accès à l’eau dans le monde</dc:title>
  <dc:creator>Remy Maupetit</dc:creator>
  <cp:lastModifiedBy>Remy Maupetit</cp:lastModifiedBy>
  <cp:revision>63</cp:revision>
  <dcterms:created xsi:type="dcterms:W3CDTF">2025-11-20T14:03:46Z</dcterms:created>
  <dcterms:modified xsi:type="dcterms:W3CDTF">2025-12-04T09:34:30Z</dcterms:modified>
</cp:coreProperties>
</file>